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49227" y="1770013"/>
            <a:ext cx="6245397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5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RNA-seq Analysis Pipeline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449227" y="2522488"/>
            <a:ext cx="624539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500"/>
              </a:spcAft>
              <a:buNone/>
            </a:pPr>
            <a:r>
              <a:rPr lang="en-US" sz="22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6-Agent Automated Analysis System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49227" y="3163788"/>
            <a:ext cx="624539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8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 - Network - Pathway - Validation - Visualization - Report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533031" y="4470499"/>
            <a:ext cx="21193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D8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BioInsight AI | Pipeline Deep Dive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F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286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Overview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17450" y="1019175"/>
            <a:ext cx="42101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Data Detection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17450" y="1355675"/>
            <a:ext cx="4127599" cy="693390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41263" y="1355675"/>
            <a:ext cx="0" cy="693390"/>
          </a:xfrm>
          <a:prstGeom prst="line">
            <a:avLst/>
          </a:prstGeom>
          <a:noFill/>
          <a:ln w="47625">
            <a:solidFill>
              <a:srgbClr val="4E9F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7475" y="1508075"/>
            <a:ext cx="38506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 Shape Analysis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17475" y="1736675"/>
            <a:ext cx="385067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genes x samples (rows x cols) determines data type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17450" y="2176016"/>
            <a:ext cx="4127599" cy="693390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41263" y="2176016"/>
            <a:ext cx="0" cy="693390"/>
          </a:xfrm>
          <a:prstGeom prst="line">
            <a:avLst/>
          </a:prstGeom>
          <a:noFill/>
          <a:ln w="47625">
            <a:solidFill>
              <a:srgbClr val="4E9F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475" y="2328416"/>
            <a:ext cx="38506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 RNA-seq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7475" y="2557016"/>
            <a:ext cx="385067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 genes x 6-100 samples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50" y="2996357"/>
            <a:ext cx="4127599" cy="693390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41263" y="2996357"/>
            <a:ext cx="0" cy="693390"/>
          </a:xfrm>
          <a:prstGeom prst="line">
            <a:avLst/>
          </a:prstGeom>
          <a:noFill/>
          <a:ln w="47625">
            <a:solidFill>
              <a:srgbClr val="4E9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7475" y="3148757"/>
            <a:ext cx="38506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Single-cell RNA-seq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7475" y="3377357"/>
            <a:ext cx="385067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 genes x 1,000+ cells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698950" y="1019175"/>
            <a:ext cx="42101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Routing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698950" y="1355675"/>
            <a:ext cx="4127599" cy="660350"/>
          </a:xfrm>
          <a:prstGeom prst="roundRect">
            <a:avLst>
              <a:gd name="adj" fmla="val 11539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851350" y="1508075"/>
            <a:ext cx="389925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Bulk: 2-Step Process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51350" y="1730276"/>
            <a:ext cx="3899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DEG Analysis, Step 2: Interpretation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98950" y="2117527"/>
            <a:ext cx="4127599" cy="660350"/>
          </a:xfrm>
          <a:prstGeom prst="roundRect">
            <a:avLst>
              <a:gd name="adj" fmla="val 11539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851350" y="2269927"/>
            <a:ext cx="389925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Single-cell: 1-Step Process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51350" y="2492127"/>
            <a:ext cx="3899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QC - Clustering - Annotation - Report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F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286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6-Agent Pipeline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9797" y="981075"/>
            <a:ext cx="2793802" cy="935682"/>
          </a:xfrm>
          <a:prstGeom prst="roundRect">
            <a:avLst>
              <a:gd name="adj" fmla="val 814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279797" y="1000125"/>
            <a:ext cx="2793802" cy="0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6747" y="1146125"/>
            <a:ext cx="259069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06747" y="1278136"/>
            <a:ext cx="2590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 Analysis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747" y="1525786"/>
            <a:ext cx="2590699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DESeq2 normalization, apeglm shrinkage, |log2FC| &gt; 1, padj &lt; 0.05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175099" y="981075"/>
            <a:ext cx="2793802" cy="935682"/>
          </a:xfrm>
          <a:prstGeom prst="roundRect">
            <a:avLst>
              <a:gd name="adj" fmla="val 814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175099" y="1000125"/>
            <a:ext cx="2793802" cy="0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02050" y="1146125"/>
            <a:ext cx="259069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02050" y="1278136"/>
            <a:ext cx="2590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Analysis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02050" y="1525786"/>
            <a:ext cx="2590699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Spearman correlation, Hub gene centrality, NetworkX graph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070402" y="981075"/>
            <a:ext cx="2793802" cy="935682"/>
          </a:xfrm>
          <a:prstGeom prst="roundRect">
            <a:avLst>
              <a:gd name="adj" fmla="val 814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070402" y="1000125"/>
            <a:ext cx="2793802" cy="0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7352" y="1146125"/>
            <a:ext cx="259069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197352" y="1278136"/>
            <a:ext cx="2590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Pathway Enrichment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97352" y="1525786"/>
            <a:ext cx="259069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Enrichr API, GO/KEGG terms, FDR &lt; 0.05 filtering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9797" y="2018258"/>
            <a:ext cx="2793802" cy="935682"/>
          </a:xfrm>
          <a:prstGeom prst="roundRect">
            <a:avLst>
              <a:gd name="adj" fmla="val 814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279797" y="2037308"/>
            <a:ext cx="2793802" cy="0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6747" y="2183309"/>
            <a:ext cx="259069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4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06747" y="2315319"/>
            <a:ext cx="2590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Validation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6747" y="2562969"/>
            <a:ext cx="2590699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COSMIC, OncoKB matching, RAG literature interpretation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175099" y="2018258"/>
            <a:ext cx="2793802" cy="935682"/>
          </a:xfrm>
          <a:prstGeom prst="roundRect">
            <a:avLst>
              <a:gd name="adj" fmla="val 814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3175099" y="2037308"/>
            <a:ext cx="2793802" cy="0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02050" y="2183309"/>
            <a:ext cx="259069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5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302050" y="2315319"/>
            <a:ext cx="2590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02050" y="2562969"/>
            <a:ext cx="259069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Volcano, Heatmap, 3D Network, Pathway barplot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070402" y="2018258"/>
            <a:ext cx="2793802" cy="935682"/>
          </a:xfrm>
          <a:prstGeom prst="roundRect">
            <a:avLst>
              <a:gd name="adj" fmla="val 814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6070402" y="2037308"/>
            <a:ext cx="2793802" cy="0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97352" y="2183309"/>
            <a:ext cx="259069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97352" y="2315319"/>
            <a:ext cx="2590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Generation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197352" y="2562969"/>
            <a:ext cx="2590699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HTML, Extended Abstract, Research Recommendations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F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286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1: DEG Analysis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17450" y="1019175"/>
            <a:ext cx="4210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17450" y="1346150"/>
            <a:ext cx="4127599" cy="580876"/>
          </a:xfrm>
          <a:prstGeom prst="roundRect">
            <a:avLst>
              <a:gd name="adj" fmla="val 874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36500" y="1346150"/>
            <a:ext cx="0" cy="580876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2501" y="1473101"/>
            <a:ext cx="39123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Data Loading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2501" y="1666726"/>
            <a:ext cx="39123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count_matrix.csv + metadata.csv input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17450" y="2028527"/>
            <a:ext cx="4127599" cy="580876"/>
          </a:xfrm>
          <a:prstGeom prst="roundRect">
            <a:avLst>
              <a:gd name="adj" fmla="val 874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36500" y="2028527"/>
            <a:ext cx="0" cy="580876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2501" y="2155478"/>
            <a:ext cx="39123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DESeq2 Normalization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2501" y="2349103"/>
            <a:ext cx="39123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 factor estimation, dispersion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50" y="2710904"/>
            <a:ext cx="4127599" cy="580876"/>
          </a:xfrm>
          <a:prstGeom prst="roundRect">
            <a:avLst>
              <a:gd name="adj" fmla="val 874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36500" y="2710904"/>
            <a:ext cx="0" cy="580876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2501" y="2837855"/>
            <a:ext cx="39123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apeglm Shrinkage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2501" y="3031480"/>
            <a:ext cx="39123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fold change shrinkage for stability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17450" y="3393281"/>
            <a:ext cx="4127599" cy="580876"/>
          </a:xfrm>
          <a:prstGeom prst="roundRect">
            <a:avLst>
              <a:gd name="adj" fmla="val 874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336500" y="3393281"/>
            <a:ext cx="0" cy="580876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2501" y="3520232"/>
            <a:ext cx="39123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Filtering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2501" y="3713857"/>
            <a:ext cx="39123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|log2FC| &gt; 1, padj &lt; 0.05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98950" y="1019175"/>
            <a:ext cx="4210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698950" y="1346150"/>
            <a:ext cx="4127599" cy="1111002"/>
          </a:xfrm>
          <a:prstGeom prst="roundRect">
            <a:avLst>
              <a:gd name="adj" fmla="val 6859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851350" y="1498550"/>
            <a:ext cx="38992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deg_significant.csv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51350" y="1752451"/>
            <a:ext cx="3899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 symbol, log2FC, pvalue, padj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51350" y="1936552"/>
            <a:ext cx="3899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baseMean, stat, lfcSE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51350" y="2120652"/>
            <a:ext cx="3899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Typical: 5,000-10,000 DEGs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F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286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2: Network Analysis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17450" y="1019175"/>
            <a:ext cx="4210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Strategies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17450" y="1346150"/>
            <a:ext cx="4127599" cy="607516"/>
          </a:xfrm>
          <a:prstGeom prst="roundRect">
            <a:avLst>
              <a:gd name="adj" fmla="val 836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44401" y="1473101"/>
            <a:ext cx="39511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Vectorized Correlation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44401" y="1666726"/>
            <a:ext cx="39511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numpy matrix ops instead of loops (100x faster)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17450" y="2055168"/>
            <a:ext cx="4127599" cy="767507"/>
          </a:xfrm>
          <a:prstGeom prst="roundRect">
            <a:avLst>
              <a:gd name="adj" fmla="val 661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44401" y="2182118"/>
            <a:ext cx="39511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Centrality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4401" y="2375743"/>
            <a:ext cx="395117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graph: weighted degree, Large: k-sampling, Small: exact betweenness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17450" y="2924175"/>
            <a:ext cx="4127599" cy="607516"/>
          </a:xfrm>
          <a:prstGeom prst="roundRect">
            <a:avLst>
              <a:gd name="adj" fmla="val 836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4401" y="3051125"/>
            <a:ext cx="39511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Building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4401" y="3244751"/>
            <a:ext cx="39511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from_pandas_edgelist() vectorized (10x faster)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98950" y="1019175"/>
            <a:ext cx="4210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(BRCA 50 samples)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98950" y="1346150"/>
            <a:ext cx="4127599" cy="580876"/>
          </a:xfrm>
          <a:prstGeom prst="roundRect">
            <a:avLst>
              <a:gd name="adj" fmla="val 13118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825901" y="1473101"/>
            <a:ext cx="39511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25901" y="1666726"/>
            <a:ext cx="39511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7,583 DEGs, 7.5K genes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98950" y="2028527"/>
            <a:ext cx="4127599" cy="580876"/>
          </a:xfrm>
          <a:prstGeom prst="roundRect">
            <a:avLst>
              <a:gd name="adj" fmla="val 13118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825901" y="2155478"/>
            <a:ext cx="39511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25901" y="2349103"/>
            <a:ext cx="39511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3.38M edges, 20 hub genes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98950" y="2710904"/>
            <a:ext cx="4127599" cy="580876"/>
          </a:xfrm>
          <a:prstGeom prst="roundRect">
            <a:avLst>
              <a:gd name="adj" fmla="val 13118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825901" y="2837855"/>
            <a:ext cx="39511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25901" y="3031480"/>
            <a:ext cx="39511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minutes total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F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286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3-4: Pathway and Validation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17450" y="1019175"/>
            <a:ext cx="4127599" cy="2144613"/>
          </a:xfrm>
          <a:prstGeom prst="roundRect">
            <a:avLst>
              <a:gd name="adj" fmla="val 355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17450" y="1038225"/>
            <a:ext cx="4127599" cy="0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9850" y="1209675"/>
            <a:ext cx="38992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3: Pathway Enrichment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9850" y="1536650"/>
            <a:ext cx="38992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9850" y="1730276"/>
            <a:ext cx="38992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 list (up/down separated)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69850" y="2017216"/>
            <a:ext cx="38992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9850" y="2210842"/>
            <a:ext cx="38992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Enrichr API for GO Biological Process, KEGG Pathways. FDR correction, term filtering.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9850" y="2657773"/>
            <a:ext cx="38992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9850" y="2851398"/>
            <a:ext cx="38992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pathway_summary.csv with 66+ enriched terms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98950" y="1019175"/>
            <a:ext cx="4127599" cy="2144613"/>
          </a:xfrm>
          <a:prstGeom prst="roundRect">
            <a:avLst>
              <a:gd name="adj" fmla="val 355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698950" y="1038225"/>
            <a:ext cx="4127599" cy="0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51350" y="1209675"/>
            <a:ext cx="38992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4: DB Validation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51350" y="1536650"/>
            <a:ext cx="38992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Cancer DBs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51350" y="1730276"/>
            <a:ext cx="38992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COSMIC Cancer Gene Census, OncoKB Actionable Genes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51350" y="2017216"/>
            <a:ext cx="38992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Interpretation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51350" y="2210842"/>
            <a:ext cx="38992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PubMedBERT + ChromaDB vector search for literature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51350" y="2497782"/>
            <a:ext cx="38992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51350" y="2691408"/>
            <a:ext cx="38992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Driver/TSG classification, PMID citations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F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286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5-6: Visualization and Report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17450" y="1019175"/>
            <a:ext cx="4127599" cy="1984623"/>
          </a:xfrm>
          <a:prstGeom prst="roundRect">
            <a:avLst>
              <a:gd name="adj" fmla="val 384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17450" y="1038225"/>
            <a:ext cx="4127599" cy="0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9850" y="1209675"/>
            <a:ext cx="38992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5: Visualization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9850" y="1536650"/>
            <a:ext cx="38992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Plots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9850" y="1730276"/>
            <a:ext cx="38992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Volcano plot, Expression heatmap, Pathway barplot, PCA plot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69850" y="2017216"/>
            <a:ext cx="38992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9850" y="2210842"/>
            <a:ext cx="38992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Network visualization with Plotly, Hub gene connections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9850" y="2497782"/>
            <a:ext cx="38992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9850" y="2691408"/>
            <a:ext cx="38992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figures in figures/ directory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98950" y="1019175"/>
            <a:ext cx="4127599" cy="1984623"/>
          </a:xfrm>
          <a:prstGeom prst="roundRect">
            <a:avLst>
              <a:gd name="adj" fmla="val 384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698950" y="1038225"/>
            <a:ext cx="4127599" cy="0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51350" y="1209675"/>
            <a:ext cx="38992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6: Report Generation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51350" y="1536650"/>
            <a:ext cx="38992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Extended Abstract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51350" y="1730276"/>
            <a:ext cx="38992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4 for narrative summary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51350" y="2017216"/>
            <a:ext cx="38992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Recommendations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51350" y="2210842"/>
            <a:ext cx="38992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Therapeutic targets, Drug repurposing, Validation protocols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51350" y="2497782"/>
            <a:ext cx="38992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51350" y="2691408"/>
            <a:ext cx="38992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HTML report (~11MB)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F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286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Single-cell Pipeline (1-Step)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17450" y="981075"/>
            <a:ext cx="2133451" cy="579537"/>
          </a:xfrm>
          <a:prstGeom prst="roundRect">
            <a:avLst>
              <a:gd name="adj" fmla="val 876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36500" y="981075"/>
            <a:ext cx="0" cy="579537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2501" y="1108025"/>
            <a:ext cx="18782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QC Filtering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82501" y="1301651"/>
            <a:ext cx="187827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Gene/cell counts, mitochondrial %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577852" y="981075"/>
            <a:ext cx="2133451" cy="579537"/>
          </a:xfrm>
          <a:prstGeom prst="roundRect">
            <a:avLst>
              <a:gd name="adj" fmla="val 876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2596902" y="981075"/>
            <a:ext cx="0" cy="579537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2902" y="1108025"/>
            <a:ext cx="18782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2902" y="1301651"/>
            <a:ext cx="187827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Scanpy normalize_total, log1p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38254" y="981075"/>
            <a:ext cx="2133451" cy="579537"/>
          </a:xfrm>
          <a:prstGeom prst="roundRect">
            <a:avLst>
              <a:gd name="adj" fmla="val 876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857304" y="981075"/>
            <a:ext cx="0" cy="579537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03304" y="1108025"/>
            <a:ext cx="18782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HVG Selection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03304" y="1301651"/>
            <a:ext cx="187827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Highly variable genes for PCA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17450" y="1687562"/>
            <a:ext cx="2133451" cy="579537"/>
          </a:xfrm>
          <a:prstGeom prst="roundRect">
            <a:avLst>
              <a:gd name="adj" fmla="val 876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36500" y="1687562"/>
            <a:ext cx="0" cy="579537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2501" y="1814513"/>
            <a:ext cx="18782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Correction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2501" y="2008138"/>
            <a:ext cx="187827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Harmony integration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577852" y="1687562"/>
            <a:ext cx="2133451" cy="579537"/>
          </a:xfrm>
          <a:prstGeom prst="roundRect">
            <a:avLst>
              <a:gd name="adj" fmla="val 876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2596902" y="1687562"/>
            <a:ext cx="0" cy="579537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2902" y="1814513"/>
            <a:ext cx="18782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Reduction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2902" y="2008138"/>
            <a:ext cx="187827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PCA, UMAP, t-SNE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38254" y="1687562"/>
            <a:ext cx="2133451" cy="579537"/>
          </a:xfrm>
          <a:prstGeom prst="roundRect">
            <a:avLst>
              <a:gd name="adj" fmla="val 876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857304" y="1687562"/>
            <a:ext cx="0" cy="579537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03304" y="1814513"/>
            <a:ext cx="18782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03304" y="2008138"/>
            <a:ext cx="187827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Leiden algorithm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17450" y="2394049"/>
            <a:ext cx="2133451" cy="579537"/>
          </a:xfrm>
          <a:prstGeom prst="roundRect">
            <a:avLst>
              <a:gd name="adj" fmla="val 876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336500" y="2394049"/>
            <a:ext cx="0" cy="579537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2501" y="2521000"/>
            <a:ext cx="18782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Annotation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2501" y="2714625"/>
            <a:ext cx="187827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CellTypist automated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577852" y="2394049"/>
            <a:ext cx="2133451" cy="579537"/>
          </a:xfrm>
          <a:prstGeom prst="roundRect">
            <a:avLst>
              <a:gd name="adj" fmla="val 876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2596902" y="2394049"/>
            <a:ext cx="0" cy="579537"/>
          </a:xfrm>
          <a:prstGeom prst="line">
            <a:avLst/>
          </a:prstGeom>
          <a:noFill/>
          <a:ln w="38100">
            <a:solidFill>
              <a:srgbClr val="4E9F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42902" y="2521000"/>
            <a:ext cx="18782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Marker Genes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742902" y="2714625"/>
            <a:ext cx="1878279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Wilcoxon rank-sum test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F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28675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Benchmarks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17450" y="1019175"/>
            <a:ext cx="867928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TCGA-BRCA (50 samples, 7.5K genes)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17450" y="1381125"/>
            <a:ext cx="8509099" cy="2428875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69850" y="1833562"/>
            <a:ext cx="8204299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9850" y="1609725"/>
            <a:ext cx="2789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4567" y="1609725"/>
            <a:ext cx="27895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39433" y="1609725"/>
            <a:ext cx="2789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9850" y="2138363"/>
            <a:ext cx="8204299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850" y="1914525"/>
            <a:ext cx="2789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1 (DEG)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4567" y="1914525"/>
            <a:ext cx="27895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39433" y="1914525"/>
            <a:ext cx="2789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7,583 DEGs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9850" y="2443163"/>
            <a:ext cx="8204299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850" y="2219325"/>
            <a:ext cx="2789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2 (Network)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4567" y="2219325"/>
            <a:ext cx="27895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~2min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39433" y="2219325"/>
            <a:ext cx="2789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3.38M edges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9850" y="2747963"/>
            <a:ext cx="8204299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9850" y="2524125"/>
            <a:ext cx="2789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3 (Pathway)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4567" y="2524125"/>
            <a:ext cx="27895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~22s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39433" y="2524125"/>
            <a:ext cx="2789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terms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9850" y="3052763"/>
            <a:ext cx="8204299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9850" y="2828925"/>
            <a:ext cx="2789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4 (Validation)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04567" y="2828925"/>
            <a:ext cx="27895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~2min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39433" y="2828925"/>
            <a:ext cx="2789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RAG interp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9850" y="3357563"/>
            <a:ext cx="8204299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9850" y="3133725"/>
            <a:ext cx="2789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5 (Viz)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04567" y="3133725"/>
            <a:ext cx="27895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~2min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39433" y="3133725"/>
            <a:ext cx="2789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figures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9850" y="3438525"/>
            <a:ext cx="2789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6 (Report)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204567" y="3438525"/>
            <a:ext cx="27895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~1min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39433" y="3438525"/>
            <a:ext cx="2789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11MB HTML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17450" y="3911501"/>
            <a:ext cx="8509099" cy="355402"/>
          </a:xfrm>
          <a:prstGeom prst="roundRect">
            <a:avLst>
              <a:gd name="adj" fmla="val 14294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69850" y="4013002"/>
            <a:ext cx="83683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Pipeline: ~8 minutes for complete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1444823"/>
            <a:ext cx="803168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5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34901" y="2190899"/>
            <a:ext cx="2497634" cy="1037927"/>
          </a:xfrm>
          <a:prstGeom prst="roundRect">
            <a:avLst>
              <a:gd name="adj" fmla="val 7342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25401" y="2381399"/>
            <a:ext cx="21589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5401" y="2682925"/>
            <a:ext cx="2158966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8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agents work sequentially with no manual intervention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323034" y="2190899"/>
            <a:ext cx="2497782" cy="1037927"/>
          </a:xfrm>
          <a:prstGeom prst="roundRect">
            <a:avLst>
              <a:gd name="adj" fmla="val 7342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513534" y="2381399"/>
            <a:ext cx="215911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513534" y="2682925"/>
            <a:ext cx="2159118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8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Vectorized ops, adaptive algorithms for scale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11317" y="2190899"/>
            <a:ext cx="2497782" cy="1037927"/>
          </a:xfrm>
          <a:prstGeom prst="roundRect">
            <a:avLst>
              <a:gd name="adj" fmla="val 7342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201817" y="2381399"/>
            <a:ext cx="215911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01817" y="2682925"/>
            <a:ext cx="2159118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8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 to Report in 8 mins with full interpretation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6159" y="3546277"/>
            <a:ext cx="80316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BioInsight AI - Automated RNA-seq Analysis at Scale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BioInsight AI - RNA-seq Pipeline</dc:title>
  <dc:subject>PptxGenJS Presentation</dc:subject>
  <dc:creator>BioInsight AI</dc:creator>
  <cp:lastModifiedBy>BioInsight AI</cp:lastModifiedBy>
  <cp:revision>1</cp:revision>
  <dcterms:created xsi:type="dcterms:W3CDTF">2026-01-26T16:32:54Z</dcterms:created>
  <dcterms:modified xsi:type="dcterms:W3CDTF">2026-01-26T16:32:54Z</dcterms:modified>
</cp:coreProperties>
</file>