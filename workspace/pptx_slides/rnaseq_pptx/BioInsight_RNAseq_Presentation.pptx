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573262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85800" y="2198638"/>
            <a:ext cx="777240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0"/>
              </a:spcAft>
              <a:buNone/>
            </a:pPr>
            <a:r>
              <a:rPr lang="en-US" sz="20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 Platform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874913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Service Project | 2026. 1. 30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174950" y="3265438"/>
            <a:ext cx="2793950" cy="304800"/>
          </a:xfrm>
          <a:prstGeom prst="roundRect">
            <a:avLst>
              <a:gd name="adj" fmla="val 83333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147011" y="3341638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Academy | AI Camp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2522994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39701"/>
            <a:ext cx="4178350" cy="1225004"/>
          </a:xfrm>
          <a:prstGeom prst="roundRect">
            <a:avLst>
              <a:gd name="adj" fmla="val 1036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142851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400" y="1390501"/>
            <a:ext cx="3795573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integrated research platform for bio/healthcare researchers. Accelerate discovery while keeping judgment with researchers.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60850" y="939701"/>
            <a:ext cx="4178350" cy="1225004"/>
          </a:xfrm>
          <a:prstGeom prst="roundRect">
            <a:avLst>
              <a:gd name="adj" fmla="val 1036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89450" y="1142851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89450" y="1390501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6-Agent Pipeline, ML Cancer Prediction, RAG Literature Interpretation, Interactive HTML Reports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2342406"/>
            <a:ext cx="4178350" cy="1034653"/>
          </a:xfrm>
          <a:prstGeom prst="roundRect">
            <a:avLst>
              <a:gd name="adj" fmla="val 1227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545556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Models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3400" y="2793206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(Opus/Sonnet), GPT-4o-mini, CatBoost + SHAP, PubMedBERT Embeddings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0850" y="2342406"/>
            <a:ext cx="4178350" cy="1034653"/>
          </a:xfrm>
          <a:prstGeom prst="roundRect">
            <a:avLst>
              <a:gd name="adj" fmla="val 1227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89450" y="2545556"/>
            <a:ext cx="37955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Environment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89450" y="2793206"/>
            <a:ext cx="3795573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+ React + ChromaDB + DESeq2 (R) + Scanpy + PostgreSQL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" y="3554760"/>
            <a:ext cx="8534400" cy="964704"/>
          </a:xfrm>
          <a:prstGeom prst="roundRect">
            <a:avLst>
              <a:gd name="adj" fmla="val 13165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3400" y="3732461"/>
            <a:ext cx="82387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Flow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43893" y="4005411"/>
            <a:ext cx="990898" cy="336352"/>
          </a:xfrm>
          <a:prstGeom prst="roundRect">
            <a:avLst>
              <a:gd name="adj" fmla="val 22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315239" y="4106912"/>
            <a:ext cx="6482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Upload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36291" y="406881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515642" y="4005411"/>
            <a:ext cx="1194197" cy="336352"/>
          </a:xfrm>
          <a:prstGeom prst="roundRect">
            <a:avLst>
              <a:gd name="adj" fmla="val 22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684955" y="4106912"/>
            <a:ext cx="8555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11339" y="406881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0690" y="4005411"/>
            <a:ext cx="1049982" cy="336352"/>
          </a:xfrm>
          <a:prstGeom prst="roundRect">
            <a:avLst>
              <a:gd name="adj" fmla="val 22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61445" y="4106912"/>
            <a:ext cx="708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42173" y="406881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21523" y="4005411"/>
            <a:ext cx="1060549" cy="336352"/>
          </a:xfrm>
          <a:prstGeom prst="roundRect">
            <a:avLst>
              <a:gd name="adj" fmla="val 22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692173" y="4106912"/>
            <a:ext cx="7192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683573" y="4068812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62924" y="4005411"/>
            <a:ext cx="1037183" cy="336352"/>
          </a:xfrm>
          <a:prstGeom prst="roundRect">
            <a:avLst>
              <a:gd name="adj" fmla="val 22655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133807" y="4106912"/>
            <a:ext cx="6954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394494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63501"/>
            <a:ext cx="1777901" cy="209550"/>
          </a:xfrm>
          <a:prstGeom prst="roundRect">
            <a:avLst>
              <a:gd name="adj" fmla="val 24242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901601"/>
            <a:ext cx="15544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(6-Agent)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4800" y="1250752"/>
            <a:ext cx="1179165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4707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59036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4990" y="1644402"/>
            <a:ext cx="238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70732" y="1784003"/>
            <a:ext cx="1047301" cy="214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+ apeglm shrinkage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547366" y="156269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775966" y="1250752"/>
            <a:ext cx="1179016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25725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330053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48243" y="1644402"/>
            <a:ext cx="4343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862697" y="1784003"/>
            <a:ext cx="1005554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corr, Hub genes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3018383" y="156269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983" y="1250752"/>
            <a:ext cx="1179165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96891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801219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13187" y="1644402"/>
            <a:ext cx="4466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69428" y="1784003"/>
            <a:ext cx="734127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/ KEGG Enrichr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4489549" y="156269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18149" y="1250752"/>
            <a:ext cx="1179016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167908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272236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47617" y="1644402"/>
            <a:ext cx="51993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59267" y="1784003"/>
            <a:ext cx="696632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COSMIC, OncoKB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5960566" y="156269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89166" y="1250752"/>
            <a:ext cx="1179016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638925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743254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3186" y="1644402"/>
            <a:ext cx="67097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357720" y="1784003"/>
            <a:ext cx="841909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Volcano, Heatmap, 3D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7431584" y="1562695"/>
            <a:ext cx="16850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660184" y="1250752"/>
            <a:ext cx="1179016" cy="824061"/>
          </a:xfrm>
          <a:prstGeom prst="roundRect">
            <a:avLst>
              <a:gd name="adj" fmla="val 9247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109942" y="1326952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14271" y="1395115"/>
            <a:ext cx="7210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072234" y="1644402"/>
            <a:ext cx="354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892799" y="1784003"/>
            <a:ext cx="713786" cy="107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5"/>
              </a:lnSpc>
              <a:buNone/>
            </a:pPr>
            <a:r>
              <a:rPr lang="en-US" sz="6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ML + RAG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304800" y="2201763"/>
            <a:ext cx="2285851" cy="209550"/>
          </a:xfrm>
          <a:prstGeom prst="roundRect">
            <a:avLst>
              <a:gd name="adj" fmla="val 24242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31750" y="2239863"/>
            <a:ext cx="2072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(Scanpy)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04800" y="2589014"/>
            <a:ext cx="855762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5730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700832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9815" y="2957215"/>
            <a:ext cx="14573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84178" y="3087291"/>
            <a:ext cx="49685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Cell/gene filter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1211312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01812" y="2589014"/>
            <a:ext cx="855613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702594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1797695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597433" y="2957215"/>
            <a:ext cx="46437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1536865" y="3087291"/>
            <a:ext cx="5853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norm + HVG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2308175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498675" y="2589014"/>
            <a:ext cx="855762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799606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2894707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823936" y="2957215"/>
            <a:ext cx="2052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686706" y="3087291"/>
            <a:ext cx="47955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 reduction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3405188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595688" y="2589014"/>
            <a:ext cx="855613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896469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991570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772335" y="2957215"/>
            <a:ext cx="5021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Corr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3865845" y="3087291"/>
            <a:ext cx="31529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502051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4692551" y="2589014"/>
            <a:ext cx="855762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993481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088582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4952993" y="2957215"/>
            <a:ext cx="33472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4847792" y="3087291"/>
            <a:ext cx="545131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+ Leiden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599063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789563" y="2589014"/>
            <a:ext cx="855613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090345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5" name="Text 73"/>
          <p:cNvSpPr/>
          <p:nvPr/>
        </p:nvSpPr>
        <p:spPr>
          <a:xfrm>
            <a:off x="6185446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6006742" y="2957215"/>
            <a:ext cx="4211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750" dirty="0"/>
          </a:p>
        </p:txBody>
      </p:sp>
      <p:sp>
        <p:nvSpPr>
          <p:cNvPr id="77" name="Text 75"/>
          <p:cNvSpPr/>
          <p:nvPr/>
        </p:nvSpPr>
        <p:spPr>
          <a:xfrm>
            <a:off x="6048792" y="3087291"/>
            <a:ext cx="33700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695926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886426" y="2589014"/>
            <a:ext cx="855762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187357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282458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7208956" y="2957215"/>
            <a:ext cx="21055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7156583" y="3087291"/>
            <a:ext cx="31529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7792938" y="2849463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7983438" y="2589014"/>
            <a:ext cx="855762" cy="673447"/>
          </a:xfrm>
          <a:prstGeom prst="roundRect">
            <a:avLst>
              <a:gd name="adj" fmla="val 11315"/>
            </a:avLst>
          </a:prstGeom>
          <a:solidFill>
            <a:srgbClr val="FFF5F6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8284369" y="2665214"/>
            <a:ext cx="253901" cy="253901"/>
          </a:xfrm>
          <a:prstGeom prst="roundRect">
            <a:avLst>
              <a:gd name="adj" fmla="val 360140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7" name="Text 85"/>
          <p:cNvSpPr/>
          <p:nvPr/>
        </p:nvSpPr>
        <p:spPr>
          <a:xfrm>
            <a:off x="8379470" y="272548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8254658" y="2957215"/>
            <a:ext cx="31317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750" dirty="0"/>
          </a:p>
        </p:txBody>
      </p:sp>
      <p:sp>
        <p:nvSpPr>
          <p:cNvPr id="89" name="Text 87"/>
          <p:cNvSpPr/>
          <p:nvPr/>
        </p:nvSpPr>
        <p:spPr>
          <a:xfrm>
            <a:off x="8188016" y="3087291"/>
            <a:ext cx="44645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0"/>
              </a:lnSpc>
              <a:buNone/>
            </a:pPr>
            <a:r>
              <a:rPr lang="en-US" sz="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output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304800" y="3389412"/>
            <a:ext cx="2760166" cy="711845"/>
          </a:xfrm>
          <a:prstGeom prst="roundRect">
            <a:avLst>
              <a:gd name="adj" fmla="val 1427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1" name="Text 89"/>
          <p:cNvSpPr/>
          <p:nvPr/>
        </p:nvSpPr>
        <p:spPr>
          <a:xfrm>
            <a:off x="457200" y="3516362"/>
            <a:ext cx="2504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Input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457200" y="3700463"/>
            <a:ext cx="25044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 x samples (6~100), count_matrix.csv + metadata.csv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3191917" y="3389412"/>
            <a:ext cx="2760166" cy="711845"/>
          </a:xfrm>
          <a:prstGeom prst="roundRect">
            <a:avLst>
              <a:gd name="adj" fmla="val 1427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4" name="Text 92"/>
          <p:cNvSpPr/>
          <p:nvPr/>
        </p:nvSpPr>
        <p:spPr>
          <a:xfrm>
            <a:off x="3344317" y="3516362"/>
            <a:ext cx="2504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Input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3344317" y="3700463"/>
            <a:ext cx="2504474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 x cells (1K~100K+), 10X Genomics / h5ad format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6079034" y="3389412"/>
            <a:ext cx="2760166" cy="711845"/>
          </a:xfrm>
          <a:prstGeom prst="roundRect">
            <a:avLst>
              <a:gd name="adj" fmla="val 14273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7" name="Text 95"/>
          <p:cNvSpPr/>
          <p:nvPr/>
        </p:nvSpPr>
        <p:spPr>
          <a:xfrm>
            <a:off x="6231434" y="3516362"/>
            <a:ext cx="250447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Features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6231434" y="3700463"/>
            <a:ext cx="250447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COSMIC/OncoKB validation, Pathway enrichment, ML prediction, Interactive HTML report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567187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Analysis &amp; Network Construction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4178350" cy="1489472"/>
          </a:xfrm>
          <a:prstGeom prst="roundRect">
            <a:avLst>
              <a:gd name="adj" fmla="val 852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1: DEG Analysis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statistical analysis with apeglm log fold change shrinkage. Automatic filtering by adjusted p-value and fold change thresholds.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both raw counts and pre-computed DEG tables. Handles batch effects with sample metadata integration.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04800" y="2556123"/>
            <a:ext cx="4178350" cy="1489472"/>
          </a:xfrm>
          <a:prstGeom prst="roundRect">
            <a:avLst>
              <a:gd name="adj" fmla="val 852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07950" y="2733824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2: Network Analysis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7950" y="30353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Spearman correlation matrix with vectorized numpy operations. Graph construction via NetworkX with adaptive hub centrality algorithm.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7950" y="3451622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Dense graphs (&gt;1M edges): weighted degree proxy. Large graphs (&gt;1K nodes): k-sampling approximate betweenness.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660850" y="914251"/>
            <a:ext cx="4178350" cy="1997422"/>
          </a:xfrm>
          <a:prstGeom prst="roundRect">
            <a:avLst>
              <a:gd name="adj" fmla="val 6358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64001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Identification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001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 = |log2FC| x -log10(padj). Top 20 hub genes selected as network centers.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64001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Hub genes reflect expression-level changes, NOT driver mutations (DNA-level).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64001" y="2276773"/>
            <a:ext cx="1189583" cy="457200"/>
          </a:xfrm>
          <a:prstGeom prst="roundRect">
            <a:avLst>
              <a:gd name="adj" fmla="val 1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981594" y="2352973"/>
            <a:ext cx="9543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7,583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1594" y="2562523"/>
            <a:ext cx="9543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DEGs (BRCA)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155085" y="2276773"/>
            <a:ext cx="1189732" cy="457200"/>
          </a:xfrm>
          <a:prstGeom prst="roundRect">
            <a:avLst>
              <a:gd name="adj" fmla="val 1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72677" y="2352973"/>
            <a:ext cx="954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3.38M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72677" y="2562523"/>
            <a:ext cx="9545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446318" y="2276773"/>
            <a:ext cx="1189732" cy="457200"/>
          </a:xfrm>
          <a:prstGeom prst="roundRect">
            <a:avLst>
              <a:gd name="adj" fmla="val 1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63910" y="2352973"/>
            <a:ext cx="95454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63910" y="2562523"/>
            <a:ext cx="9545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660850" y="3064073"/>
            <a:ext cx="4178350" cy="1346002"/>
          </a:xfrm>
          <a:prstGeom prst="roundRect">
            <a:avLst>
              <a:gd name="adj" fmla="val 9435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64001" y="3241774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Optimizations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64001" y="3470374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Correlation: O(n^2) loop to matrix multiply (100x+)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64001" y="3660874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build: from_pandas_edgelist vectorized (10x+)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64001" y="3851374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Centrality: adaptive algorithm (17s vs infinite)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64001" y="4041874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Agent 1+2: ~2.5 min for BRCA 50 samples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639249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 &amp; Database Validation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4178350" cy="1722983"/>
          </a:xfrm>
          <a:prstGeom prst="roundRect">
            <a:avLst>
              <a:gd name="adj" fmla="val 7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3: Pathway Enrichment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Biological Process, Molecular Function, Cellular Component analysis via Enrichr API.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KEGG pathway mapping for metabolic and signaling pathway identification.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2226022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barplot generation with significance thresholds.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789634"/>
            <a:ext cx="4178350" cy="1781473"/>
          </a:xfrm>
          <a:prstGeom prst="roundRect">
            <a:avLst>
              <a:gd name="adj" fmla="val 712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07950" y="2967335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4: Cancer DB Validation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7950" y="3268861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COSMIC: Known cancer gene census matching with mutation frequency data.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3685133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OncoKB: Actionability levels (1-4) and therapeutic implications.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950" y="3918645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DGIdb: Drug-gene interactions, FDA-approved drug mapping.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4202906"/>
            <a:ext cx="609154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451" y="4241006"/>
            <a:ext cx="414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93304" y="4202906"/>
            <a:ext cx="609154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294805" y="4241006"/>
            <a:ext cx="41427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OncoKB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878657" y="4202906"/>
            <a:ext cx="507653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980158" y="4241006"/>
            <a:ext cx="3107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462510" y="4202906"/>
            <a:ext cx="688181" cy="190500"/>
          </a:xfrm>
          <a:prstGeom prst="roundRect">
            <a:avLst>
              <a:gd name="adj" fmla="val 26667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564011" y="4241006"/>
            <a:ext cx="494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DrugBank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660850" y="914251"/>
            <a:ext cx="4178350" cy="2048024"/>
          </a:xfrm>
          <a:prstGeom prst="roundRect">
            <a:avLst>
              <a:gd name="adj" fmla="val 6201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864001" y="1091952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Literature Interpretation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64001" y="1393478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embeddings index 850+ papers (53K+ chunks) across 17 cancer types in ChromaDB.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64001" y="1809750"/>
            <a:ext cx="38474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 + cancer type + direction query retrieves top-k relevant literature chunks for Claude API interpretation.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64001" y="2276773"/>
            <a:ext cx="3772049" cy="507802"/>
          </a:xfrm>
          <a:prstGeom prst="roundRect">
            <a:avLst>
              <a:gd name="adj" fmla="val 1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887813" y="2276773"/>
            <a:ext cx="0" cy="507802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64026" y="2378273"/>
            <a:ext cx="34880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"BRCA1 plays a critical role in DNA damage repair via homologous recombination..." [PMID: 12345678]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60850" y="3114675"/>
            <a:ext cx="4178350" cy="1590973"/>
          </a:xfrm>
          <a:prstGeom prst="roundRect">
            <a:avLst>
              <a:gd name="adj" fmla="val 798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64001" y="3292376"/>
            <a:ext cx="38474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5: Visualization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64001" y="3593902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 Plot: log2FC vs -log10(padj) with significance cutoffs.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64001" y="3827413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Heatmap: Top DEG expression across samples.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64001" y="4060924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Network: Force-directed graph with hub gene highlights.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64001" y="4294436"/>
            <a:ext cx="384749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Barplot: Top enriched terms with -log10(pvalue).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397925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Cancer Type Prediction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8534400" cy="1736675"/>
          </a:xfrm>
          <a:prstGeom prst="roundRect">
            <a:avLst>
              <a:gd name="adj" fmla="val 7313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Model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377702"/>
            <a:ext cx="82906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TCGA-trained gradient boosting classifier with Optuna hyperparameter optimization.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598563"/>
            <a:ext cx="8290661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explanations for every prediction showing top contributing genes.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908274"/>
            <a:ext cx="1974800" cy="564952"/>
          </a:xfrm>
          <a:prstGeom prst="roundRect">
            <a:avLst>
              <a:gd name="adj" fmla="val 1348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8202" y="2009775"/>
            <a:ext cx="2014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8202" y="2276475"/>
            <a:ext cx="201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AUC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558951" y="1908274"/>
            <a:ext cx="1974949" cy="564952"/>
          </a:xfrm>
          <a:prstGeom prst="roundRect">
            <a:avLst>
              <a:gd name="adj" fmla="val 1348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39201" y="2009775"/>
            <a:ext cx="201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39201" y="2276475"/>
            <a:ext cx="20144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Acc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610100" y="1908274"/>
            <a:ext cx="1974800" cy="564952"/>
          </a:xfrm>
          <a:prstGeom prst="roundRect">
            <a:avLst>
              <a:gd name="adj" fmla="val 1348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590352" y="2009775"/>
            <a:ext cx="201429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352" y="2276475"/>
            <a:ext cx="201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Cancer Types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661100" y="1908274"/>
            <a:ext cx="1974949" cy="564952"/>
          </a:xfrm>
          <a:prstGeom prst="roundRect">
            <a:avLst>
              <a:gd name="adj" fmla="val 13488"/>
            </a:avLst>
          </a:prstGeom>
          <a:solidFill>
            <a:srgbClr val="FC1C49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641351" y="2009775"/>
            <a:ext cx="20144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11K+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41351" y="2276475"/>
            <a:ext cx="201444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Samples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4800" y="2803327"/>
            <a:ext cx="4178350" cy="1183630"/>
          </a:xfrm>
          <a:prstGeom prst="roundRect">
            <a:avLst>
              <a:gd name="adj" fmla="val 1073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7950" y="2981027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Pipeline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950" y="3209627"/>
            <a:ext cx="3847490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Data → TPM → log2 transform → Standardization → Optuna HPO → CatBoost → SHAP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7950" y="3571280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Data → Gene ID Mapping → Predict → SHAP Waterfall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60850" y="2803327"/>
            <a:ext cx="4178350" cy="1183630"/>
          </a:xfrm>
          <a:prstGeom prst="roundRect">
            <a:avLst>
              <a:gd name="adj" fmla="val 1073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64001" y="2981027"/>
            <a:ext cx="384749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Validation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64001" y="3209627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gap analysis (Top1 - Top2 probability)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64001" y="3409504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Confusable cancer pair detection (e.g., SCC types: HNSC/LUSC/SKCM)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64001" y="3609380"/>
            <a:ext cx="3847490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Tissue-specific marker expression check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04800" y="4139357"/>
            <a:ext cx="8534400" cy="647700"/>
          </a:xfrm>
          <a:prstGeom prst="roundRect">
            <a:avLst>
              <a:gd name="adj" fmla="val 19608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7950" y="4391769"/>
            <a:ext cx="57579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26356" y="4291757"/>
            <a:ext cx="745588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predictions include disclaimer: "This is a prediction, NOT a diagnosis. For reference only." Suggested validations: tissue biopsy confirmation, additional marker testing.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4232618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RNA-seq Pipeline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88802"/>
            <a:ext cx="870508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Scanpy Pipeline: QC → Clustering → Annotation → Markers → Report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04800" y="1168152"/>
            <a:ext cx="822424" cy="916484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6263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4014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33430" y="1599754"/>
            <a:ext cx="1651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00107" y="1752154"/>
            <a:ext cx="6318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cells &amp; genes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90625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6426" y="1168152"/>
            <a:ext cx="822573" cy="916484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78037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785789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54560" y="1599754"/>
            <a:ext cx="52615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01731" y="1752154"/>
            <a:ext cx="63196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normalize + HVG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292400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08200" y="1168152"/>
            <a:ext cx="822424" cy="916484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2779663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87414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803132" y="1599754"/>
            <a:ext cx="2324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603507" y="1752154"/>
            <a:ext cx="6318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reduction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94025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09826" y="1168152"/>
            <a:ext cx="822573" cy="916484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81438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89189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36556" y="1599754"/>
            <a:ext cx="56896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Corr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705131" y="1752154"/>
            <a:ext cx="631963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Harmony integration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495800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11601" y="1168152"/>
            <a:ext cx="822424" cy="916484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983063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90815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3059" y="1599754"/>
            <a:ext cx="379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06907" y="1752154"/>
            <a:ext cx="631811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+ Leiden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97426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813227" y="1168152"/>
            <a:ext cx="822573" cy="916484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84838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92589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985954" y="1599754"/>
            <a:ext cx="476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28002" y="1752154"/>
            <a:ext cx="39302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699200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15001" y="1168152"/>
            <a:ext cx="822424" cy="916484"/>
          </a:xfrm>
          <a:prstGeom prst="roundRect">
            <a:avLst>
              <a:gd name="adj" fmla="val 108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186464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294215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206895" y="1599754"/>
            <a:ext cx="2386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056610" y="1752154"/>
            <a:ext cx="539058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Wilcoxon test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800826" y="1540669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16627" y="1168152"/>
            <a:ext cx="822573" cy="916484"/>
          </a:xfrm>
          <a:prstGeom prst="roundRect">
            <a:avLst>
              <a:gd name="adj" fmla="val 10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8288238" y="1269653"/>
            <a:ext cx="279350" cy="279350"/>
          </a:xfrm>
          <a:prstGeom prst="roundRect">
            <a:avLst>
              <a:gd name="adj" fmla="val 32733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395990" y="1342579"/>
            <a:ext cx="649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250530" y="1599754"/>
            <a:ext cx="35476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85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167494" y="1752154"/>
            <a:ext cx="520690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output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04800" y="2211586"/>
            <a:ext cx="4178350" cy="1332905"/>
          </a:xfrm>
          <a:prstGeom prst="roundRect">
            <a:avLst>
              <a:gd name="adj" fmla="val 952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82501" y="2363986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Analysis Features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82501" y="259258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type annotation via CellTypist with pre-trained models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82501" y="2792462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UMAP / t-SNE dimensionality reduction visualization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482501" y="2992338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Cluster-specific marker gene detection (Wilcoxon)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482501" y="319221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Pseudo-bulk aggregation for ML prediction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4660850" y="2211586"/>
            <a:ext cx="4178350" cy="1532781"/>
          </a:xfrm>
          <a:prstGeom prst="roundRect">
            <a:avLst>
              <a:gd name="adj" fmla="val 8286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838551" y="2363986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Advanced Modules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38551" y="259258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Trajectory: Pseudotime analysis for differentiation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838551" y="2792462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TME: Tumor microenvironment composition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4838551" y="2992338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GRN: Gene regulatory network (SCENIC)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4838551" y="3192214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CNV: Copy number variation inference (inferCNV)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4838551" y="3392091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Interaction: Cell-cell communication (CellChat)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161854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91952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7950" y="13649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 + TypeScript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7950" y="15871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 for styling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7950" y="18093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 / D3.js for charts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20315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3d-force-graph for knowledge graph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914251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550" y="1091952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03550" y="13649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3.11+ / FastAPI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03550" y="15871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Uvicorn ASGI server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03550" y="18093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streaming for pipeline progress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3550" y="20315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background task processing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96000" y="914251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99150" y="1091952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LLM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99150" y="13649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API (Opus/Sonnet)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99150" y="1587103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GPT-4o-mini (primary)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99150" y="18093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PubMedBERT embeddings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9150" y="2031504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chain: OpenAI → Claude → Vertex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4800" y="2583805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07950" y="2761506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RNA-seq Analysis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950" y="30344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(R) + rpy2 bridge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950" y="32566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Scanpy + Harmony + CellTypist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950" y="34788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(ML)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7950" y="370105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NetworkX + gseapy + Enrichr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0" y="2583805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403550" y="2761506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03550" y="30344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(Vector Store)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03550" y="32566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(metadata)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03550" y="34788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850+ papers, 53K+ chunks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03550" y="370105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cancer type collections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96000" y="2583805"/>
            <a:ext cx="2743200" cy="1517154"/>
          </a:xfrm>
          <a:prstGeom prst="roundRect">
            <a:avLst>
              <a:gd name="adj" fmla="val 8371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299150" y="2761506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APIs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99150" y="30344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0702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PubMed E-utilities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99150" y="32566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 / OncoKB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99150" y="3478857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DGIdb v5 GraphQL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99150" y="3701058"/>
            <a:ext cx="23836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Scholar / CrossRef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04800" y="4253359"/>
            <a:ext cx="8534400" cy="571500"/>
          </a:xfrm>
          <a:prstGeom prst="roundRect">
            <a:avLst>
              <a:gd name="adj" fmla="val 22222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149251" y="4405759"/>
            <a:ext cx="699939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297699" y="4481959"/>
            <a:ext cx="4030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UI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25389" y="445338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153989" y="4405759"/>
            <a:ext cx="666006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2302777" y="4481959"/>
            <a:ext cx="3684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896195" y="445338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124795" y="4405759"/>
            <a:ext cx="1258639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267657" y="4481959"/>
            <a:ext cx="9729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Orchestrator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459635" y="445338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88235" y="4405759"/>
            <a:ext cx="1027212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4833411" y="4481959"/>
            <a:ext cx="736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System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91646" y="445338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020246" y="4405759"/>
            <a:ext cx="759172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168103" y="4481959"/>
            <a:ext cx="4634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DB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855619" y="4453384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084219" y="4405759"/>
            <a:ext cx="910530" cy="266700"/>
          </a:xfrm>
          <a:prstGeom prst="roundRect">
            <a:avLst>
              <a:gd name="adj" fmla="val 2857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7230561" y="4481959"/>
            <a:ext cx="617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383580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Report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88802"/>
            <a:ext cx="4063901" cy="999232"/>
          </a:xfrm>
          <a:prstGeom prst="roundRect">
            <a:avLst>
              <a:gd name="adj" fmla="val 1016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2501" y="1015752"/>
            <a:ext cx="3782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Report (11 Sections)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2501" y="1222028"/>
            <a:ext cx="389483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58701" y="1247329"/>
            <a:ext cx="2418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22734" y="1222028"/>
            <a:ext cx="532656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998934" y="1247329"/>
            <a:ext cx="38786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506141" y="1222028"/>
            <a:ext cx="779413" cy="145852"/>
          </a:xfrm>
          <a:prstGeom prst="roundRect">
            <a:avLst>
              <a:gd name="adj" fmla="val 26122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2341" y="1247329"/>
            <a:ext cx="6395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(LLM)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36304" y="1222028"/>
            <a:ext cx="542627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412504" y="1247329"/>
            <a:ext cx="39803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QC / PCA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929682" y="1222028"/>
            <a:ext cx="695771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005882" y="1247329"/>
            <a:ext cx="55423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 Analysis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76204" y="1222028"/>
            <a:ext cx="493365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752404" y="1247329"/>
            <a:ext cx="3477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82501" y="1418630"/>
            <a:ext cx="684312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58701" y="1443930"/>
            <a:ext cx="5425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Validation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217563" y="1418630"/>
            <a:ext cx="478334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93763" y="1443930"/>
            <a:ext cx="3324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1746647" y="1418630"/>
            <a:ext cx="5976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2383334" y="1418630"/>
            <a:ext cx="438894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459534" y="1443930"/>
            <a:ext cx="2922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872978" y="1418630"/>
            <a:ext cx="537716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949178" y="1443930"/>
            <a:ext cx="3930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461445" y="1418630"/>
            <a:ext cx="6800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(LLM)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82501" y="1615232"/>
            <a:ext cx="493365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58701" y="1640532"/>
            <a:ext cx="34778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026616" y="1615232"/>
            <a:ext cx="606921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1102816" y="1640532"/>
            <a:ext cx="46361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684288" y="1615232"/>
            <a:ext cx="522982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760488" y="1640532"/>
            <a:ext cx="37799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04800" y="2014984"/>
            <a:ext cx="4063901" cy="752029"/>
          </a:xfrm>
          <a:prstGeom prst="roundRect">
            <a:avLst>
              <a:gd name="adj" fmla="val 13510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2501" y="2141934"/>
            <a:ext cx="3782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Report (Extended)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2501" y="2348210"/>
            <a:ext cx="802779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58701" y="2373511"/>
            <a:ext cx="66338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Type UMAP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1336030" y="2348210"/>
            <a:ext cx="473422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412230" y="2373511"/>
            <a:ext cx="32744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1860203" y="2348210"/>
            <a:ext cx="646361" cy="145852"/>
          </a:xfrm>
          <a:prstGeom prst="roundRect">
            <a:avLst>
              <a:gd name="adj" fmla="val 26122"/>
            </a:avLst>
          </a:prstGeom>
          <a:solidFill>
            <a:srgbClr val="E8E9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1936403" y="2373511"/>
            <a:ext cx="5038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557314" y="2348210"/>
            <a:ext cx="577304" cy="145852"/>
          </a:xfrm>
          <a:prstGeom prst="roundRect">
            <a:avLst>
              <a:gd name="adj" fmla="val 26122"/>
            </a:avLst>
          </a:prstGeom>
          <a:solidFill>
            <a:srgbClr val="FC1C49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633514" y="2373511"/>
            <a:ext cx="43340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3185368" y="2348210"/>
            <a:ext cx="1914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TME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23791" y="2348210"/>
            <a:ext cx="20144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82501" y="2544812"/>
            <a:ext cx="5390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CNV / Ploidy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061740" y="2544812"/>
            <a:ext cx="4634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304800" y="2893963"/>
            <a:ext cx="4063901" cy="1184077"/>
          </a:xfrm>
          <a:prstGeom prst="roundRect">
            <a:avLst>
              <a:gd name="adj" fmla="val 8581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82501" y="3020913"/>
            <a:ext cx="378266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LLM-Generated Content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82501" y="3227189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Abstract: Claude Opus storytelling (~$0.30)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2501" y="3417689"/>
            <a:ext cx="37826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Recommendations: therapeutic targets, drug repurposing, experimental validation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501" y="3760589"/>
            <a:ext cx="37826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interpretations cite PMID references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46402" y="888802"/>
            <a:ext cx="4292798" cy="1412677"/>
          </a:xfrm>
          <a:prstGeom prst="roundRect">
            <a:avLst>
              <a:gd name="adj" fmla="val 7192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724102" y="1015752"/>
            <a:ext cx="40161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Features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24102" y="1222028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Plotly.js charts with zoom, hover tooltips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724102" y="1412528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force-directed network graph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4724102" y="1603028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Sortable / filterable data tables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724102" y="1793528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dataset CSV download from appendix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724102" y="1984028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single-file HTML (no server needed)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4546402" y="2428429"/>
            <a:ext cx="4292798" cy="1222177"/>
          </a:xfrm>
          <a:prstGeom prst="roundRect">
            <a:avLst>
              <a:gd name="adj" fmla="val 8313"/>
            </a:avLst>
          </a:prstGeom>
          <a:solidFill>
            <a:srgbClr val="F8F9FA"/>
          </a:solidFill>
          <a:ln/>
          <a:effectLst>
            <a:outerShdw sx="100000" sy="100000" kx="0" ky="0" algn="bl" rotWithShape="0" blurRad="38100" dist="13470" dir="27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24102" y="2555379"/>
            <a:ext cx="40161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Report Architecture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724102" y="276165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CSS/style system for Bulk and Single-cell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24102" y="295215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Data-type adaptive section selection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724102" y="314265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sections auto-activate by output files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724102" y="3333155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ReportAdapter for backward compatibility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546402" y="3777555"/>
            <a:ext cx="4292798" cy="1222177"/>
          </a:xfrm>
          <a:prstGeom prst="roundRect">
            <a:avLst>
              <a:gd name="adj" fmla="val 8313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4724102" y="3904506"/>
            <a:ext cx="40161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 in Reports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724102" y="4110782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Gene != Driver Gene disclaimer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4724102" y="4301282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= reference only, not diagnosis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4724102" y="4491782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levels for all interpretations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724102" y="4682282"/>
            <a:ext cx="4016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validation experiments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87437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67432"/>
            <a:ext cx="338661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&amp; Benchmarks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865138"/>
            <a:ext cx="1605260" cy="818852"/>
          </a:xfrm>
          <a:prstGeom prst="roundRect">
            <a:avLst>
              <a:gd name="adj" fmla="val 1550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57833" y="1042839"/>
            <a:ext cx="7131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0.998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45417" y="1391989"/>
            <a:ext cx="5238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BRCA AUC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037011" y="865138"/>
            <a:ext cx="1605409" cy="818852"/>
          </a:xfrm>
          <a:prstGeom prst="roundRect">
            <a:avLst>
              <a:gd name="adj" fmla="val 1550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43609" y="1042839"/>
            <a:ext cx="80805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18647" y="1391989"/>
            <a:ext cx="104198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Pan-Cancer (17 types)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769370" y="865138"/>
            <a:ext cx="1605260" cy="818852"/>
          </a:xfrm>
          <a:prstGeom prst="roundRect">
            <a:avLst>
              <a:gd name="adj" fmla="val 1550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164360" y="1042839"/>
            <a:ext cx="83158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~8min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976167" y="1391989"/>
            <a:ext cx="11916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(50 samples)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01580" y="865138"/>
            <a:ext cx="1605409" cy="818852"/>
          </a:xfrm>
          <a:prstGeom prst="roundRect">
            <a:avLst>
              <a:gd name="adj" fmla="val 1550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89588" y="1042839"/>
            <a:ext cx="6419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850+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852288" y="1391989"/>
            <a:ext cx="903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Papers in VectorDB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233940" y="865138"/>
            <a:ext cx="1605260" cy="818852"/>
          </a:xfrm>
          <a:prstGeom prst="roundRect">
            <a:avLst>
              <a:gd name="adj" fmla="val 15509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888784" y="1042839"/>
            <a:ext cx="3013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8140" y="1391989"/>
            <a:ext cx="7368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Sections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04800" y="1836390"/>
            <a:ext cx="4178350" cy="1294805"/>
          </a:xfrm>
          <a:prstGeom prst="roundRect">
            <a:avLst>
              <a:gd name="adj" fmla="val 9808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2501" y="1988790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RNA-seq 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501" y="2217390"/>
            <a:ext cx="3899407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 BRCA (50 samples): 7,583 DEGs, 3.38M network edges, 20 hub genes identified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2501" y="2579043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enrichment: 66 GO/KEGG terms with p-adj &lt; 0.05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2501" y="2778919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COSMIC/OncoKB match rate: 80%+ hub genes validated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04800" y="3258145"/>
            <a:ext cx="4178350" cy="1133029"/>
          </a:xfrm>
          <a:prstGeom prst="roundRect">
            <a:avLst>
              <a:gd name="adj" fmla="val 11209"/>
            </a:avLst>
          </a:prstGeom>
          <a:solidFill>
            <a:srgbClr val="F0F1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2501" y="3410545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Pan-Cancer Accuracy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501" y="3639145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84/85 test samples correct (98.8%)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2501" y="3839021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misclass: SKCM → HNSC (mucosal melanoma pattern)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82501" y="4038898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Confusable pairs detected: SCC, adenocarcinoma, GI tract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660850" y="1836390"/>
            <a:ext cx="4178350" cy="1133029"/>
          </a:xfrm>
          <a:prstGeom prst="roundRect">
            <a:avLst>
              <a:gd name="adj" fmla="val 1120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838551" y="1988790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Validation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38551" y="2217390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CellTypist annotation with pre-trained immune/tumor models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38551" y="2417266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Cluster-specific marker detection via Wilcoxon rank-sum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838551" y="2617143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Pseudo-bulk aggregation enables ML prediction per cluster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660850" y="3096369"/>
            <a:ext cx="4178350" cy="1133029"/>
          </a:xfrm>
          <a:prstGeom prst="roundRect">
            <a:avLst>
              <a:gd name="adj" fmla="val 1120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38551" y="3248769"/>
            <a:ext cx="38994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 Quality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38551" y="3477369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53K+ paper chunks across 17 cancer types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838551" y="3677245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gene interpretations include PMID citations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838551" y="3877121"/>
            <a:ext cx="389940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Extended Abstract via Claude Opus for storytelling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04800" y="4543574"/>
            <a:ext cx="8534400" cy="599926"/>
          </a:xfrm>
          <a:prstGeom prst="roundRect">
            <a:avLst>
              <a:gd name="adj" fmla="val 21169"/>
            </a:avLst>
          </a:prstGeom>
          <a:solidFill>
            <a:srgbClr val="F8F9FA"/>
          </a:solidFill>
          <a:ln/>
          <a:effectLst>
            <a:outerShdw sx="100000" sy="100000" kx="0" ky="0" algn="bl" rotWithShape="0" blurRad="57150" dist="13470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82501" y="4670524"/>
            <a:ext cx="83425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Benchmark (TCGA BRCA 50 samples)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2501" y="4864150"/>
            <a:ext cx="96426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(DEG): ~30s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631007" y="4864150"/>
            <a:ext cx="11772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(Network): ~2min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88320" y="4864150"/>
            <a:ext cx="11370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(Pathway): ~22s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06193" y="4864150"/>
            <a:ext cx="101997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4 (Valid): ~2min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509320" y="4864150"/>
            <a:ext cx="93936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5 (Viz): ~2min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633418" y="4864150"/>
            <a:ext cx="1108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6 (Report): ~1min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179338"/>
            <a:ext cx="37486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Development Plan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4800" y="914251"/>
            <a:ext cx="2726234" cy="2516981"/>
          </a:xfrm>
          <a:prstGeom prst="roundRect">
            <a:avLst>
              <a:gd name="adj" fmla="val 504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04800" y="938064"/>
            <a:ext cx="2726234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400" y="1177826"/>
            <a:ext cx="765423" cy="164902"/>
          </a:xfrm>
          <a:prstGeom prst="roundRect">
            <a:avLst>
              <a:gd name="adj" fmla="val 30806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4901" y="1203127"/>
            <a:ext cx="573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3400" y="1444228"/>
            <a:ext cx="23144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Report Support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3400" y="1745754"/>
            <a:ext cx="231441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Multi-language report generation (Korean / English)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2162026"/>
            <a:ext cx="231441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parameter in ReportConfig for automatic switching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3400" y="2578298"/>
            <a:ext cx="231441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interpretation output in selected language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3400" y="2994571"/>
            <a:ext cx="2314414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researcher accessibility expansion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8734" y="914251"/>
            <a:ext cx="2726382" cy="2516981"/>
          </a:xfrm>
          <a:prstGeom prst="roundRect">
            <a:avLst>
              <a:gd name="adj" fmla="val 504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208734" y="938064"/>
            <a:ext cx="2726382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37334" y="1177826"/>
            <a:ext cx="765423" cy="164902"/>
          </a:xfrm>
          <a:prstGeom prst="roundRect">
            <a:avLst>
              <a:gd name="adj" fmla="val 30806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38835" y="1203127"/>
            <a:ext cx="573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37334" y="1444228"/>
            <a:ext cx="231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Accuracy Enhancement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37334" y="1745754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training data beyond TCGA (GEO, TARGET datasets)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37334" y="2162026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methods: CatBoost + XGBoost + LightGBM voting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37334" y="2578298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Confusable pair classifier with tissue-specific markers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37334" y="2994571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Cross-validation with external cohorts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12818" y="914251"/>
            <a:ext cx="2726382" cy="2516981"/>
          </a:xfrm>
          <a:prstGeom prst="roundRect">
            <a:avLst>
              <a:gd name="adj" fmla="val 5046"/>
            </a:avLst>
          </a:prstGeom>
          <a:solidFill>
            <a:srgbClr val="F8F9FA"/>
          </a:solidFill>
          <a:ln/>
          <a:effectLst>
            <a:outerShdw sx="100000" sy="100000" kx="0" ky="0" algn="bl" rotWithShape="0" blurRad="76200" dist="26941" dir="27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12818" y="938064"/>
            <a:ext cx="2726382" cy="0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1418" y="1177826"/>
            <a:ext cx="765423" cy="164902"/>
          </a:xfrm>
          <a:prstGeom prst="roundRect">
            <a:avLst>
              <a:gd name="adj" fmla="val 30806"/>
            </a:avLst>
          </a:prstGeom>
          <a:solidFill>
            <a:srgbClr val="FC1C4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442918" y="1203127"/>
            <a:ext cx="5736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41418" y="1444228"/>
            <a:ext cx="23145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318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Single-cell Enhancement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41418" y="1745754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SCENIC+ for enhanced gene regulatory networks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41418" y="2162026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CellChat / CellPhoneDB cell-cell interaction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341418" y="2395538"/>
            <a:ext cx="231456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inferCNV / CopyKAT for malignant cell detection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41418" y="2811810"/>
            <a:ext cx="2314566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Spatial transcriptomics integration (Visium)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04800" y="3608933"/>
            <a:ext cx="8534400" cy="1145530"/>
          </a:xfrm>
          <a:prstGeom prst="roundRect">
            <a:avLst>
              <a:gd name="adj" fmla="val 11087"/>
            </a:avLst>
          </a:prstGeom>
          <a:solidFill>
            <a:srgbClr val="0702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33400" y="3786634"/>
            <a:ext cx="2573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Modules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3400" y="4015234"/>
            <a:ext cx="2573545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Multi-omic: WGS/WES variant + RNA-seq integration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33400" y="4376886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Proteomics: Mass spec data analysis pipeline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310384" y="3786634"/>
            <a:ext cx="25736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Expansion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310384" y="4015234"/>
            <a:ext cx="257369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 module with DGIdb integration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310384" y="4215110"/>
            <a:ext cx="2573697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trial matching for identified targets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087517" y="3786634"/>
            <a:ext cx="2573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87517" y="4015234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 (GCP / AWS) for scalability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087517" y="4215110"/>
            <a:ext cx="2573545" cy="161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spcAft>
                <a:spcPts val="300"/>
              </a:spcAft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processing for large cohort studies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95635"/>
            <a:ext cx="7772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85800" y="1300460"/>
            <a:ext cx="777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400" dirty="0">
                <a:solidFill>
                  <a:srgbClr val="A0A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BioInsight AI - RNA-seq Analysis Platform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62000" y="1865561"/>
            <a:ext cx="2438400" cy="948333"/>
          </a:xfrm>
          <a:prstGeom prst="roundRect">
            <a:avLst>
              <a:gd name="adj" fmla="val 133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949226" y="2052786"/>
            <a:ext cx="2105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6-Agent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49226" y="2281386"/>
            <a:ext cx="2105227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DEG, Network, Pathway, Validation, Visualization, Report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352800" y="1865561"/>
            <a:ext cx="2438400" cy="948333"/>
          </a:xfrm>
          <a:prstGeom prst="roundRect">
            <a:avLst>
              <a:gd name="adj" fmla="val 133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540026" y="2052786"/>
            <a:ext cx="2105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40026" y="2281386"/>
            <a:ext cx="2105227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CatBoost + SHAP with 98.8% Pan-Cancer accuracy (17 types)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0" y="1865561"/>
            <a:ext cx="2438400" cy="948333"/>
          </a:xfrm>
          <a:prstGeom prst="roundRect">
            <a:avLst>
              <a:gd name="adj" fmla="val 13392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30826" y="2052786"/>
            <a:ext cx="21052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Interpretation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30826" y="2281386"/>
            <a:ext cx="2105227" cy="345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0"/>
              </a:lnSpc>
              <a:buNone/>
            </a:pPr>
            <a:r>
              <a:rPr lang="en-US" sz="85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850+ papers, PMID-cited literature-backed gene interpretation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62000" y="3118693"/>
            <a:ext cx="7620000" cy="670322"/>
          </a:xfrm>
          <a:prstGeom prst="roundRect">
            <a:avLst>
              <a:gd name="adj" fmla="val 18946"/>
            </a:avLst>
          </a:prstGeom>
          <a:solidFill>
            <a:srgbClr val="FC1C49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5813" y="3118693"/>
            <a:ext cx="0" cy="670322"/>
          </a:xfrm>
          <a:prstGeom prst="line">
            <a:avLst/>
          </a:prstGeom>
          <a:noFill/>
          <a:ln w="47625">
            <a:solidFill>
              <a:srgbClr val="FC1C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2880" y="3321844"/>
            <a:ext cx="7205865" cy="264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"Accelerate discovery, keep judgment with researchers"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74950" y="4042916"/>
            <a:ext cx="2793950" cy="304800"/>
          </a:xfrm>
          <a:prstGeom prst="roundRect">
            <a:avLst>
              <a:gd name="adj" fmla="val 83333"/>
            </a:avLst>
          </a:prstGeom>
          <a:solidFill>
            <a:srgbClr val="FC1C49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147011" y="4119116"/>
            <a:ext cx="284982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1C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Academy | AI Camp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BioInsight AI - RNA-seq Analysis Platform</dc:title>
  <dc:subject>PptxGenJS Presentation</dc:subject>
  <dc:creator>BioInsight AI Team</dc:creator>
  <cp:lastModifiedBy>BioInsight AI Team</cp:lastModifiedBy>
  <cp:revision>1</cp:revision>
  <dcterms:created xsi:type="dcterms:W3CDTF">2026-01-29T03:02:55Z</dcterms:created>
  <dcterms:modified xsi:type="dcterms:W3CDTF">2026-01-29T03:02:55Z</dcterms:modified>
</cp:coreProperties>
</file>