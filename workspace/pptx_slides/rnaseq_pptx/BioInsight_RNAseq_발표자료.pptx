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563737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2189113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분석 플랫폼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874913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서비스 프로젝트 | 2026. 1. 30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4950" y="3265438"/>
            <a:ext cx="2793950" cy="314325"/>
          </a:xfrm>
          <a:prstGeom prst="roundRect">
            <a:avLst>
              <a:gd name="adj" fmla="val 80808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47011" y="3341638"/>
            <a:ext cx="28498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커널아카데미 | AI 심화캠프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69813"/>
            <a:ext cx="17000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939701"/>
            <a:ext cx="4178350" cy="1044178"/>
          </a:xfrm>
          <a:prstGeom prst="roundRect">
            <a:avLst>
              <a:gd name="adj" fmla="val 1216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142851"/>
            <a:ext cx="37955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목표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3400" y="1400026"/>
            <a:ext cx="3795573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바이오/헬스케어 연구자를 위한 AI 기반 통합 연구 지원 플랫폼. 연구자의 발견을 가속화하되, 판단은 연구자에게.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0850" y="939701"/>
            <a:ext cx="4178350" cy="1044178"/>
          </a:xfrm>
          <a:prstGeom prst="roundRect">
            <a:avLst>
              <a:gd name="adj" fmla="val 1216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89450" y="1142851"/>
            <a:ext cx="37955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89450" y="1400026"/>
            <a:ext cx="3795573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6-Agent 파이프라인, ML 암종 예측, RAG 문헌 해석, 인터랙티브 HTML 리포트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2161580"/>
            <a:ext cx="4178350" cy="1044178"/>
          </a:xfrm>
          <a:prstGeom prst="roundRect">
            <a:avLst>
              <a:gd name="adj" fmla="val 1216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2364730"/>
            <a:ext cx="37955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모델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3400" y="2621905"/>
            <a:ext cx="3795573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(Opus/Sonnet), GPT-4o-mini, CatBoost + SHAP, PubMedBERT 임베딩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0850" y="2161580"/>
            <a:ext cx="4178350" cy="1044178"/>
          </a:xfrm>
          <a:prstGeom prst="roundRect">
            <a:avLst>
              <a:gd name="adj" fmla="val 1216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89450" y="2364730"/>
            <a:ext cx="37955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환경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89450" y="2621905"/>
            <a:ext cx="3795573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React + ChromaDB + DESeq2 (R) + Scanpy + PostgreSQL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4800" y="3383459"/>
            <a:ext cx="8534400" cy="983754"/>
          </a:xfrm>
          <a:prstGeom prst="roundRect">
            <a:avLst>
              <a:gd name="adj" fmla="val 1291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3400" y="3561159"/>
            <a:ext cx="82387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흐름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97645" y="3843635"/>
            <a:ext cx="980480" cy="345877"/>
          </a:xfrm>
          <a:prstGeom prst="roundRect">
            <a:avLst>
              <a:gd name="adj" fmla="val 220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69095" y="3945136"/>
            <a:ext cx="637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업로드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79625" y="3911798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58976" y="3843635"/>
            <a:ext cx="1281857" cy="345877"/>
          </a:xfrm>
          <a:prstGeom prst="roundRect">
            <a:avLst>
              <a:gd name="adj" fmla="val 220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27412" y="3945136"/>
            <a:ext cx="9449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6-Agent 파이프라인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42333" y="3911798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21684" y="3843635"/>
            <a:ext cx="739527" cy="345877"/>
          </a:xfrm>
          <a:prstGeom prst="roundRect">
            <a:avLst>
              <a:gd name="adj" fmla="val 220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95543" y="3945136"/>
            <a:ext cx="3918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예측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62711" y="3911798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42062" y="3843635"/>
            <a:ext cx="832693" cy="345877"/>
          </a:xfrm>
          <a:prstGeom prst="roundRect">
            <a:avLst>
              <a:gd name="adj" fmla="val 220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714990" y="3945136"/>
            <a:ext cx="4868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해석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76256" y="3911798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55606" y="3843635"/>
            <a:ext cx="990749" cy="345877"/>
          </a:xfrm>
          <a:prstGeom prst="roundRect">
            <a:avLst>
              <a:gd name="adj" fmla="val 220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26954" y="3945136"/>
            <a:ext cx="6480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리포트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69813"/>
            <a:ext cx="336809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분석 파이프라인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863501"/>
            <a:ext cx="2031802" cy="209550"/>
          </a:xfrm>
          <a:prstGeom prst="roundRect">
            <a:avLst>
              <a:gd name="adj" fmla="val 24242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901601"/>
            <a:ext cx="181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RNA-seq (6-Agent)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04800" y="1250752"/>
            <a:ext cx="1179165" cy="726281"/>
          </a:xfrm>
          <a:prstGeom prst="roundRect">
            <a:avLst>
              <a:gd name="adj" fmla="val 10492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4707" y="13269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9036" y="13951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4990" y="1644402"/>
            <a:ext cx="2386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7280" y="1784003"/>
            <a:ext cx="854205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DESeq2 + apeglm 수축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547366" y="1513880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75966" y="1250752"/>
            <a:ext cx="1179016" cy="726281"/>
          </a:xfrm>
          <a:prstGeom prst="roundRect">
            <a:avLst>
              <a:gd name="adj" fmla="val 10492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25725" y="13269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330053" y="13951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74961" y="1644402"/>
            <a:ext cx="3808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49834" y="1793528"/>
            <a:ext cx="831131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Spearman, Hub 유전자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018383" y="1513880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983" y="1250752"/>
            <a:ext cx="1179165" cy="726281"/>
          </a:xfrm>
          <a:prstGeom prst="roundRect">
            <a:avLst>
              <a:gd name="adj" fmla="val 10492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96891" y="13269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01219" y="13951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30795" y="1644402"/>
            <a:ext cx="4115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분석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69428" y="1793528"/>
            <a:ext cx="73412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KEGG Enrichr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489549" y="1513880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18149" y="1250752"/>
            <a:ext cx="1179016" cy="726281"/>
          </a:xfrm>
          <a:prstGeom prst="roundRect">
            <a:avLst>
              <a:gd name="adj" fmla="val 10492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67908" y="13269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72236" y="13951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17598" y="1644402"/>
            <a:ext cx="3801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59267" y="1793528"/>
            <a:ext cx="696632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COSMIC, OncoKB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960566" y="1513880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89166" y="1250752"/>
            <a:ext cx="1179016" cy="726281"/>
          </a:xfrm>
          <a:prstGeom prst="roundRect">
            <a:avLst>
              <a:gd name="adj" fmla="val 10492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638925" y="13269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743254" y="13951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35826" y="1644402"/>
            <a:ext cx="2856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시각화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57720" y="1793528"/>
            <a:ext cx="841909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Volcano, Heatmap, 3D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7431584" y="1513880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660184" y="1250752"/>
            <a:ext cx="1179016" cy="726281"/>
          </a:xfrm>
          <a:prstGeom prst="roundRect">
            <a:avLst>
              <a:gd name="adj" fmla="val 10492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109942" y="13269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14271" y="13951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06844" y="1644402"/>
            <a:ext cx="2856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892799" y="1793528"/>
            <a:ext cx="713786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ML + RAG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304800" y="2103983"/>
            <a:ext cx="2539901" cy="209550"/>
          </a:xfrm>
          <a:prstGeom prst="roundRect">
            <a:avLst>
              <a:gd name="adj" fmla="val 24242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31750" y="2142083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RNA-seq (Scanpy)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04800" y="2491234"/>
            <a:ext cx="855762" cy="682972"/>
          </a:xfrm>
          <a:prstGeom prst="roundRect">
            <a:avLst>
              <a:gd name="adj" fmla="val 11157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05730" y="256743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00832" y="262770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9815" y="2859435"/>
            <a:ext cx="1457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75677" y="2989511"/>
            <a:ext cx="51385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세포/유전자 필터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1211312" y="275644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401812" y="2491234"/>
            <a:ext cx="855613" cy="682972"/>
          </a:xfrm>
          <a:prstGeom prst="roundRect">
            <a:avLst>
              <a:gd name="adj" fmla="val 11157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702594" y="256743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797695" y="262770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703545" y="2859435"/>
            <a:ext cx="2521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정규화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546125" y="2999036"/>
            <a:ext cx="56683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정규화+HVG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2308175" y="275644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498675" y="2491234"/>
            <a:ext cx="855762" cy="682972"/>
          </a:xfrm>
          <a:prstGeom prst="roundRect">
            <a:avLst>
              <a:gd name="adj" fmla="val 11157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2799606" y="256743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894707" y="262770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823936" y="2859435"/>
            <a:ext cx="2052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781279" y="2989511"/>
            <a:ext cx="290554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차원 축소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3405188" y="275644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595688" y="2491234"/>
            <a:ext cx="855613" cy="682972"/>
          </a:xfrm>
          <a:prstGeom prst="roundRect">
            <a:avLst>
              <a:gd name="adj" fmla="val 11157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896469" y="256743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991570" y="262770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841860" y="2859435"/>
            <a:ext cx="3632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보정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865845" y="2999036"/>
            <a:ext cx="31529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Harmony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4502051" y="275644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692551" y="2491234"/>
            <a:ext cx="855762" cy="682972"/>
          </a:xfrm>
          <a:prstGeom prst="roundRect">
            <a:avLst>
              <a:gd name="adj" fmla="val 11157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4993481" y="256743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088582" y="262770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910334" y="2859435"/>
            <a:ext cx="420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클러스터링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868739" y="2999036"/>
            <a:ext cx="503384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UMAP+Leiden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5599063" y="275644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789563" y="2491234"/>
            <a:ext cx="855613" cy="682972"/>
          </a:xfrm>
          <a:prstGeom prst="roundRect">
            <a:avLst>
              <a:gd name="adj" fmla="val 11157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6090345" y="256743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6185446" y="262770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035735" y="2859435"/>
            <a:ext cx="3632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세포 주석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048792" y="2999036"/>
            <a:ext cx="33700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CellTypist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6695926" y="275644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886426" y="2491234"/>
            <a:ext cx="855762" cy="682972"/>
          </a:xfrm>
          <a:prstGeom prst="roundRect">
            <a:avLst>
              <a:gd name="adj" fmla="val 11157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7187357" y="256743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7282458" y="262770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208956" y="2859435"/>
            <a:ext cx="2105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156583" y="2989511"/>
            <a:ext cx="31529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Wilcoxon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7792938" y="275644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7983438" y="2491234"/>
            <a:ext cx="855762" cy="682972"/>
          </a:xfrm>
          <a:prstGeom prst="roundRect">
            <a:avLst>
              <a:gd name="adj" fmla="val 11157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8284369" y="256743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8379470" y="262770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285171" y="2859435"/>
            <a:ext cx="2521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8228851" y="2999036"/>
            <a:ext cx="364787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출력</a:t>
            </a:r>
            <a:endParaRPr lang="en-US" sz="600" dirty="0"/>
          </a:p>
        </p:txBody>
      </p:sp>
      <p:sp>
        <p:nvSpPr>
          <p:cNvPr id="90" name="Text 88"/>
          <p:cNvSpPr/>
          <p:nvPr/>
        </p:nvSpPr>
        <p:spPr>
          <a:xfrm>
            <a:off x="304800" y="3301157"/>
            <a:ext cx="2760166" cy="721370"/>
          </a:xfrm>
          <a:prstGeom prst="roundRect">
            <a:avLst>
              <a:gd name="adj" fmla="val 14084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457200" y="3428107"/>
            <a:ext cx="2504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입력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57200" y="3621732"/>
            <a:ext cx="250447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유전자 x 샘플 (6~100), count_matrix.csv + metadata.csv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191917" y="3301157"/>
            <a:ext cx="2760166" cy="721370"/>
          </a:xfrm>
          <a:prstGeom prst="roundRect">
            <a:avLst>
              <a:gd name="adj" fmla="val 14084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3344317" y="3428107"/>
            <a:ext cx="2504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입력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3344317" y="3621732"/>
            <a:ext cx="250447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유전자 x 세포 (1K~100K+), 10X Genomics / h5ad 형식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6079034" y="3301157"/>
            <a:ext cx="2760166" cy="721370"/>
          </a:xfrm>
          <a:prstGeom prst="roundRect">
            <a:avLst>
              <a:gd name="adj" fmla="val 14084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6231434" y="3428107"/>
            <a:ext cx="2504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기능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231434" y="3621732"/>
            <a:ext cx="250447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COSMIC/OncoKB 검증, 경로 분석, ML 암종 예측, 인터랙티브 HTML 리포트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69813"/>
            <a:ext cx="343959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분석 및 네트워크 구축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914251"/>
            <a:ext cx="4178350" cy="1489472"/>
          </a:xfrm>
          <a:prstGeom prst="roundRect">
            <a:avLst>
              <a:gd name="adj" fmla="val 8526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91952"/>
            <a:ext cx="3847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1: DEG 분석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393478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DESeq2 통계 분석 + apeglm log fold change 수축. 보정된 p-value와 fold change 임계값으로 자동 필터링.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809750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count 및 사전 계산된 DEG 테이블 모두 지원. 메타데이터 기반 배치 효과 보정.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4800" y="2556123"/>
            <a:ext cx="4178350" cy="1306711"/>
          </a:xfrm>
          <a:prstGeom prst="roundRect">
            <a:avLst>
              <a:gd name="adj" fmla="val 9719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7950" y="2733824"/>
            <a:ext cx="3847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2: 네트워크 분석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950" y="3035350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벡터화된 numpy 연산으로 Spearman 상관 행렬 계산. NetworkX 기반 그래프 구축 및 적응형 Hub 중심성 알고리즘.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3451622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밀집 그래프 (&gt;100만 엣지): 가중 차수 프록시. 대규모 (&gt;1천 노드): k-샘플링 근사.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0850" y="914251"/>
            <a:ext cx="4178350" cy="2016472"/>
          </a:xfrm>
          <a:prstGeom prst="roundRect">
            <a:avLst>
              <a:gd name="adj" fmla="val 6298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64001" y="1091952"/>
            <a:ext cx="3847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유전자 식별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001" y="1393478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점수 = |log2FC| x -log10(padj). 상위 20개 Hub 유전자를 네트워크 중심으로 선정.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64001" y="1809750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주의: Hub 유전자는 발현 수준 변화를 반영하며, Driver 변이(DNA 수준)와는 다른 개념입니다.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64001" y="2276773"/>
            <a:ext cx="1189583" cy="476250"/>
          </a:xfrm>
          <a:prstGeom prst="roundRect">
            <a:avLst>
              <a:gd name="adj" fmla="val 16000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81594" y="2352973"/>
            <a:ext cx="9543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7,583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1594" y="2562523"/>
            <a:ext cx="9543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수 (BRCA)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155085" y="2276773"/>
            <a:ext cx="1189732" cy="476250"/>
          </a:xfrm>
          <a:prstGeom prst="roundRect">
            <a:avLst>
              <a:gd name="adj" fmla="val 16000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72677" y="2352973"/>
            <a:ext cx="95454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338만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72677" y="2572048"/>
            <a:ext cx="9545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엣지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446318" y="2276773"/>
            <a:ext cx="1189732" cy="476250"/>
          </a:xfrm>
          <a:prstGeom prst="roundRect">
            <a:avLst>
              <a:gd name="adj" fmla="val 16000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63910" y="2352973"/>
            <a:ext cx="9545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63910" y="2562523"/>
            <a:ext cx="9545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유전자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60850" y="3083123"/>
            <a:ext cx="4178350" cy="1355527"/>
          </a:xfrm>
          <a:prstGeom prst="roundRect">
            <a:avLst>
              <a:gd name="adj" fmla="val 9369"/>
            </a:avLst>
          </a:prstGeom>
          <a:solidFill>
            <a:srgbClr val="F0F1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64001" y="3260824"/>
            <a:ext cx="38474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최적화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001" y="3498949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상관 계산: O(n^2) 루프 → 행렬 곱 (100배 이상)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64001" y="3689449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그래프 구축: from_pandas_edgelist 벡터화 (10배 이상)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64001" y="3879949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중심성 계산: 적응형 알고리즘 (17초 vs 무한대)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64001" y="4070449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1+2 총 소요: BRCA 50 샘플 기준 ~2.5분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69813"/>
            <a:ext cx="384156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분석 및 데이터베이스 검증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914251"/>
            <a:ext cx="4178350" cy="1357461"/>
          </a:xfrm>
          <a:prstGeom prst="roundRect">
            <a:avLst>
              <a:gd name="adj" fmla="val 9356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91952"/>
            <a:ext cx="3847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3: 경로 분석 (Pathway)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393478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Enrichr API를 통한 GO 생물학적 과정, 분자 기능, 세포 구성요소 분석.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626989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KEGG 경로 매핑으로 대사 및 신호전달 경로 식별.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1860500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유의성 임계값 기반 자동 바플롯 생성.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4800" y="2424113"/>
            <a:ext cx="4178350" cy="1598712"/>
          </a:xfrm>
          <a:prstGeom prst="roundRect">
            <a:avLst>
              <a:gd name="adj" fmla="val 7944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7950" y="2601813"/>
            <a:ext cx="3847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4: 암 DB 검증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950" y="2903339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COSMIC: 알려진 암 유전자 목록 매칭 및 변이 빈도 데이터.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3136850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OncoKB: 실행가능성 수준(1-4) 및 치료적 함의.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3370362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DGIdb: 약물-유전자 상호작용, FDA 승인 약물 매핑.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3654623"/>
            <a:ext cx="609154" cy="190500"/>
          </a:xfrm>
          <a:prstGeom prst="roundRect">
            <a:avLst>
              <a:gd name="adj" fmla="val 26667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451" y="3692723"/>
            <a:ext cx="414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93304" y="3654623"/>
            <a:ext cx="609154" cy="190500"/>
          </a:xfrm>
          <a:prstGeom prst="roundRect">
            <a:avLst>
              <a:gd name="adj" fmla="val 26667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94805" y="3692723"/>
            <a:ext cx="414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OncoKB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78657" y="3654623"/>
            <a:ext cx="507653" cy="190500"/>
          </a:xfrm>
          <a:prstGeom prst="roundRect">
            <a:avLst>
              <a:gd name="adj" fmla="val 26667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80158" y="3692723"/>
            <a:ext cx="3107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DGIdb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462510" y="3654623"/>
            <a:ext cx="688181" cy="190500"/>
          </a:xfrm>
          <a:prstGeom prst="roundRect">
            <a:avLst>
              <a:gd name="adj" fmla="val 26667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64011" y="3692723"/>
            <a:ext cx="494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DrugBank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0850" y="914251"/>
            <a:ext cx="4178350" cy="2048024"/>
          </a:xfrm>
          <a:prstGeom prst="roundRect">
            <a:avLst>
              <a:gd name="adj" fmla="val 6201"/>
            </a:avLst>
          </a:prstGeom>
          <a:solidFill>
            <a:srgbClr val="F0F1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64001" y="1091952"/>
            <a:ext cx="3847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문헌 해석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001" y="1393478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 임베딩으로 17개 암종 850편 이상 논문(53K+ 청크)을 ChromaDB에 인덱싱.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64001" y="1809750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유전자 + 암종 + 발현 방향 쿼리로 관련 문헌 청크를 검색하여 Claude API가 해석 생성.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001" y="2276773"/>
            <a:ext cx="3772049" cy="507802"/>
          </a:xfrm>
          <a:prstGeom prst="roundRect">
            <a:avLst>
              <a:gd name="adj" fmla="val 15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887813" y="2276773"/>
            <a:ext cx="0" cy="507802"/>
          </a:xfrm>
          <a:prstGeom prst="line">
            <a:avLst/>
          </a:prstGeom>
          <a:noFill/>
          <a:ln w="47625">
            <a:solidFill>
              <a:srgbClr val="FC1C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64026" y="2378273"/>
            <a:ext cx="34880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"BRCA1은 상동 재조합을 통한 DNA 손상 복구에 핵심적인 역할을 합니다..." [PMID: 12345678]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60850" y="3114675"/>
            <a:ext cx="4178350" cy="1590973"/>
          </a:xfrm>
          <a:prstGeom prst="roundRect">
            <a:avLst>
              <a:gd name="adj" fmla="val 798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64001" y="3292376"/>
            <a:ext cx="3847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5: 시각화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64001" y="3593902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Volcano Plot: log2FC vs -log10(padj) 유의성 구간 표시.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64001" y="3827413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 Heatmap: 상위 DEG 발현 패턴.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64001" y="4060924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네트워크: 힘 기반 그래프 + Hub 유전자 하이라이트.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64001" y="4294436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바플롯: 상위 enriched 용어 + -log10(pvalue).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69813"/>
            <a:ext cx="231608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암종 예측 모듈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914251"/>
            <a:ext cx="8534400" cy="1765250"/>
          </a:xfrm>
          <a:prstGeom prst="roundRect">
            <a:avLst>
              <a:gd name="adj" fmla="val 7194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91952"/>
            <a:ext cx="82906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 + SHAP 모델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387227"/>
            <a:ext cx="829066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 데이터로 학습된 그래디언트 부스팅 분류기. Optuna 하이퍼파라미터 최적화 적용.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608088"/>
            <a:ext cx="829066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예측에 대해 SHAP waterfall 설명 제공 - 주요 기여 유전자 시각화.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1917799"/>
            <a:ext cx="1974800" cy="584002"/>
          </a:xfrm>
          <a:prstGeom prst="roundRect">
            <a:avLst>
              <a:gd name="adj" fmla="val 13048"/>
            </a:avLst>
          </a:prstGeom>
          <a:solidFill>
            <a:srgbClr val="FC1C4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8202" y="2019300"/>
            <a:ext cx="2014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8202" y="2286000"/>
            <a:ext cx="20142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 AUC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558951" y="1917799"/>
            <a:ext cx="1974949" cy="584002"/>
          </a:xfrm>
          <a:prstGeom prst="roundRect">
            <a:avLst>
              <a:gd name="adj" fmla="val 13048"/>
            </a:avLst>
          </a:prstGeom>
          <a:solidFill>
            <a:srgbClr val="FC1C4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39201" y="2019300"/>
            <a:ext cx="2014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98.8%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39201" y="2286000"/>
            <a:ext cx="2014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Pan-Cancer 정확도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610100" y="1917799"/>
            <a:ext cx="1974800" cy="584002"/>
          </a:xfrm>
          <a:prstGeom prst="roundRect">
            <a:avLst>
              <a:gd name="adj" fmla="val 13048"/>
            </a:avLst>
          </a:prstGeom>
          <a:solidFill>
            <a:srgbClr val="FC1C4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90352" y="2019300"/>
            <a:ext cx="201429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0352" y="2295525"/>
            <a:ext cx="20142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암종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661100" y="1917799"/>
            <a:ext cx="1974949" cy="584002"/>
          </a:xfrm>
          <a:prstGeom prst="roundRect">
            <a:avLst>
              <a:gd name="adj" fmla="val 13048"/>
            </a:avLst>
          </a:prstGeom>
          <a:solidFill>
            <a:srgbClr val="FC1C4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41351" y="2019300"/>
            <a:ext cx="2014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11K+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41351" y="2286000"/>
            <a:ext cx="2014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 학습 샘플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04800" y="2831902"/>
            <a:ext cx="4178350" cy="1193155"/>
          </a:xfrm>
          <a:prstGeom prst="roundRect">
            <a:avLst>
              <a:gd name="adj" fmla="val 10644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7950" y="3009602"/>
            <a:ext cx="38474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파이프라인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950" y="3247727"/>
            <a:ext cx="3847490" cy="32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 데이터 → TPM → log2 변환 → 표준화 → Optuna HPO → CatBoost → SHAP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7950" y="3609380"/>
            <a:ext cx="3847490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데이터 → Gene ID 매핑 → 예측 → SHAP Waterfall 시각화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60850" y="2831902"/>
            <a:ext cx="4178350" cy="1193155"/>
          </a:xfrm>
          <a:prstGeom prst="roundRect">
            <a:avLst>
              <a:gd name="adj" fmla="val 10644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64001" y="3009602"/>
            <a:ext cx="38474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검증 시스템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001" y="3247727"/>
            <a:ext cx="3847490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신뢰도 갭 분석 (Top1 - Top2 확률 차이, 15% 미만 시 불확실)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64001" y="3447604"/>
            <a:ext cx="3847490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혼동 가능 암종 쌍 탐지 (예: 편평상피암 HNSC/LUSC/SKCM)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64001" y="3647480"/>
            <a:ext cx="3847490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 특이 마커 발현 검사로 보정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4800" y="4177457"/>
            <a:ext cx="8534400" cy="476250"/>
          </a:xfrm>
          <a:prstGeom prst="roundRect">
            <a:avLst>
              <a:gd name="adj" fmla="val 26667"/>
            </a:avLst>
          </a:prstGeom>
          <a:solidFill>
            <a:srgbClr val="F0F1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7950" y="4339382"/>
            <a:ext cx="4481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안전장치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01192" y="4329857"/>
            <a:ext cx="75835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예측에 면책 조항 포함: "이 예측은 진단이 아니며, 참고용입니다." 제안 검증: 조직 검사 확인, 추가 마커 검사.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69813"/>
            <a:ext cx="43851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RNA-seq 파이프라인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888802"/>
            <a:ext cx="87050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Scanpy 파이프라인: QC → 클러스터링 → 주석 → 마커 → 리포트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4800" y="1177677"/>
            <a:ext cx="822424" cy="926009"/>
          </a:xfrm>
          <a:prstGeom prst="roundRect">
            <a:avLst>
              <a:gd name="adj" fmla="val 1081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6263" y="127917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4014" y="1352104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3430" y="1609279"/>
            <a:ext cx="1651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0107" y="1761679"/>
            <a:ext cx="6318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세포/유전자 필터링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90625" y="1554956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06426" y="1177677"/>
            <a:ext cx="822573" cy="926009"/>
          </a:xfrm>
          <a:prstGeom prst="roundRect">
            <a:avLst>
              <a:gd name="adj" fmla="val 1080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78037" y="127917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85789" y="1352104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74790" y="1609279"/>
            <a:ext cx="2856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정규화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01731" y="1771204"/>
            <a:ext cx="63196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정규화 + HVG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292400" y="1554956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08200" y="1177677"/>
            <a:ext cx="822424" cy="926009"/>
          </a:xfrm>
          <a:prstGeom prst="roundRect">
            <a:avLst>
              <a:gd name="adj" fmla="val 1081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779663" y="127917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87414" y="1352104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03132" y="1609279"/>
            <a:ext cx="2324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9998" y="1761679"/>
            <a:ext cx="33882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차원 축소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394025" y="1554956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09826" y="1177677"/>
            <a:ext cx="822573" cy="926009"/>
          </a:xfrm>
          <a:prstGeom prst="roundRect">
            <a:avLst>
              <a:gd name="adj" fmla="val 1080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81438" y="127917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89189" y="1352104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15341" y="1609279"/>
            <a:ext cx="4115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보정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46120" y="1771204"/>
            <a:ext cx="54983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Harmony 통합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495800" y="1554956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11601" y="1177677"/>
            <a:ext cx="822424" cy="926009"/>
          </a:xfrm>
          <a:prstGeom prst="roundRect">
            <a:avLst>
              <a:gd name="adj" fmla="val 1081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83063" y="127917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90815" y="1352104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84633" y="1609279"/>
            <a:ext cx="4762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클러스터링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06907" y="1771204"/>
            <a:ext cx="6318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UMAP + Leiden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597426" y="1554956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13227" y="1177677"/>
            <a:ext cx="822573" cy="926009"/>
          </a:xfrm>
          <a:prstGeom prst="roundRect">
            <a:avLst>
              <a:gd name="adj" fmla="val 1080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84838" y="127917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92589" y="1352104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18742" y="1609279"/>
            <a:ext cx="4115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세포 주석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28002" y="1771204"/>
            <a:ext cx="39302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CellTypist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699200" y="1554956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15001" y="1177677"/>
            <a:ext cx="822424" cy="926009"/>
          </a:xfrm>
          <a:prstGeom prst="roundRect">
            <a:avLst>
              <a:gd name="adj" fmla="val 1081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186464" y="127917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294215" y="1352104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06895" y="1609279"/>
            <a:ext cx="2386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051295" y="1761679"/>
            <a:ext cx="54983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Wilcoxon 검정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800826" y="1554956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16627" y="1177677"/>
            <a:ext cx="822573" cy="926009"/>
          </a:xfrm>
          <a:prstGeom prst="roundRect">
            <a:avLst>
              <a:gd name="adj" fmla="val 1080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288238" y="127917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395990" y="1352104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84991" y="1609279"/>
            <a:ext cx="2856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215159" y="1771204"/>
            <a:ext cx="42550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출력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04800" y="2230636"/>
            <a:ext cx="4178350" cy="1342430"/>
          </a:xfrm>
          <a:prstGeom prst="roundRect">
            <a:avLst>
              <a:gd name="adj" fmla="val 946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82501" y="2383036"/>
            <a:ext cx="38994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분석 기능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2501" y="2621161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CellTypist 사전 학습 모델 기반 세포 유형 주석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2501" y="2821037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UMAP / t-SNE 차원 축소 시각화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82501" y="3020913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클러스터별 마커 유전자 탐지 (Wilcoxon)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82501" y="3220789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Pseudo-bulk 집계를 통한 ML 암종 예측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660850" y="2230636"/>
            <a:ext cx="4178350" cy="1542306"/>
          </a:xfrm>
          <a:prstGeom prst="roundRect">
            <a:avLst>
              <a:gd name="adj" fmla="val 8234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838551" y="2383036"/>
            <a:ext cx="38994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선택적 고급 모듈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838551" y="2621161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Trajectory: 분화 궤적 의사시간 분석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838551" y="2821037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TME: 종양 미세환경 구성 분석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38551" y="3020913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GRN: 유전자 조절 네트워크 (SCENIC)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838551" y="3220789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CNV: 복제수 변이 추론 (inferCNV)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838551" y="3420666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Interaction: 세포 간 상호작용 (CellChat)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69813"/>
            <a:ext cx="116221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914251"/>
            <a:ext cx="2743200" cy="1526679"/>
          </a:xfrm>
          <a:prstGeom prst="roundRect">
            <a:avLst>
              <a:gd name="adj" fmla="val 8319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91952"/>
            <a:ext cx="23836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374428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+ TypeScript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596628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스타일링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1818829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Plotly.js / D3.js 차트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2041029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3d-force-graph 지식 그래프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914251"/>
            <a:ext cx="2743200" cy="1526679"/>
          </a:xfrm>
          <a:prstGeom prst="roundRect">
            <a:avLst>
              <a:gd name="adj" fmla="val 8319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03550" y="1091952"/>
            <a:ext cx="23836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3550" y="1374428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3.11+ / FastAPI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03550" y="1596628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Uvicorn ASGI 서버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3550" y="1818829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스트리밍 파이프라인 진행률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03550" y="2041029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비동기 백그라운드 작업 처리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6000" y="914251"/>
            <a:ext cx="2743200" cy="1526679"/>
          </a:xfrm>
          <a:prstGeom prst="roundRect">
            <a:avLst>
              <a:gd name="adj" fmla="val 8319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99150" y="1091952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LLM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9150" y="1364903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(Opus/Sonnet)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99150" y="1587103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GPT-4o-mini (주력)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99150" y="1809304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 임베딩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99150" y="2031504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체인: OpenAI → Claude → Vertex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4800" y="2593330"/>
            <a:ext cx="2743200" cy="1526679"/>
          </a:xfrm>
          <a:prstGeom prst="roundRect">
            <a:avLst>
              <a:gd name="adj" fmla="val 8319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7950" y="2771031"/>
            <a:ext cx="23836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분석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950" y="305350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DESeq2 (R) + rpy2 브릿지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950" y="327570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Scanpy + Harmony + CellTypist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7950" y="349790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 + SHAP (ML 예측)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950" y="3720108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 + gseapy + Enrichr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2593330"/>
            <a:ext cx="2743200" cy="1526679"/>
          </a:xfrm>
          <a:prstGeom prst="roundRect">
            <a:avLst>
              <a:gd name="adj" fmla="val 8319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03550" y="2771031"/>
            <a:ext cx="23836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03550" y="305350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(벡터 스토어)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03550" y="327570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(메타데이터)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03550" y="349790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850편 이상 논문, 53K+ 청크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03550" y="3720108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17개 암종 컬렉션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96000" y="2593330"/>
            <a:ext cx="2743200" cy="1526679"/>
          </a:xfrm>
          <a:prstGeom prst="roundRect">
            <a:avLst>
              <a:gd name="adj" fmla="val 8319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99150" y="2771031"/>
            <a:ext cx="23836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API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99150" y="305350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 E-utilities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99150" y="327570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 / OncoKB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99150" y="349790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DGIdb v5 GraphQL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99150" y="3720108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Scholar / CrossRef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04800" y="4272409"/>
            <a:ext cx="8534400" cy="581025"/>
          </a:xfrm>
          <a:prstGeom prst="roundRect">
            <a:avLst>
              <a:gd name="adj" fmla="val 21858"/>
            </a:avLst>
          </a:prstGeom>
          <a:solidFill>
            <a:srgbClr val="F0F1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143149" y="4429571"/>
            <a:ext cx="699939" cy="266700"/>
          </a:xfrm>
          <a:prstGeom prst="roundRect">
            <a:avLst>
              <a:gd name="adj" fmla="val 2857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291597" y="4505771"/>
            <a:ext cx="4030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919288" y="4477196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147888" y="4429571"/>
            <a:ext cx="666006" cy="266700"/>
          </a:xfrm>
          <a:prstGeom prst="roundRect">
            <a:avLst>
              <a:gd name="adj" fmla="val 2857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296675" y="4505771"/>
            <a:ext cx="3684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890093" y="4477196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118693" y="4424809"/>
            <a:ext cx="1387078" cy="276225"/>
          </a:xfrm>
          <a:prstGeom prst="roundRect">
            <a:avLst>
              <a:gd name="adj" fmla="val 27586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260271" y="4501009"/>
            <a:ext cx="11039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오케스트레이터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81971" y="4477196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10571" y="4424809"/>
            <a:ext cx="952202" cy="276225"/>
          </a:xfrm>
          <a:prstGeom prst="roundRect">
            <a:avLst>
              <a:gd name="adj" fmla="val 27586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956497" y="4501009"/>
            <a:ext cx="6603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6-Agent 시스템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838974" y="4477196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067574" y="4429571"/>
            <a:ext cx="759172" cy="266700"/>
          </a:xfrm>
          <a:prstGeom prst="roundRect">
            <a:avLst>
              <a:gd name="adj" fmla="val 2857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215430" y="4505771"/>
            <a:ext cx="4634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DB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02946" y="4477196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131546" y="4424809"/>
            <a:ext cx="869156" cy="276225"/>
          </a:xfrm>
          <a:prstGeom prst="roundRect">
            <a:avLst>
              <a:gd name="adj" fmla="val 27586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278303" y="4501009"/>
            <a:ext cx="5756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리포트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69813"/>
            <a:ext cx="313097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 리포트 시스템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888802"/>
            <a:ext cx="4063901" cy="1037332"/>
          </a:xfrm>
          <a:prstGeom prst="roundRect">
            <a:avLst>
              <a:gd name="adj" fmla="val 9794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2501" y="1015752"/>
            <a:ext cx="37826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RNA-seq 리포트 (11개 섹션)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2501" y="1231553"/>
            <a:ext cx="306288" cy="155377"/>
          </a:xfrm>
          <a:prstGeom prst="roundRect">
            <a:avLst>
              <a:gd name="adj" fmla="val 24521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1256854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39539" y="1231553"/>
            <a:ext cx="306288" cy="155377"/>
          </a:xfrm>
          <a:prstGeom prst="roundRect">
            <a:avLst>
              <a:gd name="adj" fmla="val 24521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5739" y="1256854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96578" y="1231553"/>
            <a:ext cx="572691" cy="155377"/>
          </a:xfrm>
          <a:prstGeom prst="roundRect">
            <a:avLst>
              <a:gd name="adj" fmla="val 24521"/>
            </a:avLst>
          </a:prstGeom>
          <a:solidFill>
            <a:srgbClr val="FC1C4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72778" y="1256854"/>
            <a:ext cx="4286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초록 (LLM)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0019" y="1231553"/>
            <a:ext cx="542627" cy="155377"/>
          </a:xfrm>
          <a:prstGeom prst="roundRect">
            <a:avLst>
              <a:gd name="adj" fmla="val 24521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96219" y="1256854"/>
            <a:ext cx="3980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/ PCA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413397" y="1231553"/>
            <a:ext cx="523429" cy="155377"/>
          </a:xfrm>
          <a:prstGeom prst="roundRect">
            <a:avLst>
              <a:gd name="adj" fmla="val 24521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89597" y="1256854"/>
            <a:ext cx="3784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분석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87576" y="1231553"/>
            <a:ext cx="484584" cy="155377"/>
          </a:xfrm>
          <a:prstGeom prst="roundRect">
            <a:avLst>
              <a:gd name="adj" fmla="val 24521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63776" y="1256854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분석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522911" y="1231553"/>
            <a:ext cx="454372" cy="155377"/>
          </a:xfrm>
          <a:prstGeom prst="roundRect">
            <a:avLst>
              <a:gd name="adj" fmla="val 24521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99111" y="1256854"/>
            <a:ext cx="3080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검증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82501" y="1437680"/>
            <a:ext cx="460028" cy="155377"/>
          </a:xfrm>
          <a:prstGeom prst="roundRect">
            <a:avLst>
              <a:gd name="adj" fmla="val 24521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8701" y="1462980"/>
            <a:ext cx="3137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993279" y="1437680"/>
            <a:ext cx="457646" cy="155377"/>
          </a:xfrm>
          <a:prstGeom prst="roundRect">
            <a:avLst>
              <a:gd name="adj" fmla="val 24521"/>
            </a:avLst>
          </a:prstGeom>
          <a:solidFill>
            <a:srgbClr val="FC1C4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69479" y="1462980"/>
            <a:ext cx="3113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예측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1676" y="1437680"/>
            <a:ext cx="306288" cy="155377"/>
          </a:xfrm>
          <a:prstGeom prst="roundRect">
            <a:avLst>
              <a:gd name="adj" fmla="val 24521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577876" y="1462980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임상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858714" y="1437680"/>
            <a:ext cx="484584" cy="155377"/>
          </a:xfrm>
          <a:prstGeom prst="roundRect">
            <a:avLst>
              <a:gd name="adj" fmla="val 24521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934914" y="1462980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후속 연구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394049" y="1437680"/>
            <a:ext cx="751136" cy="155377"/>
          </a:xfrm>
          <a:prstGeom prst="roundRect">
            <a:avLst>
              <a:gd name="adj" fmla="val 24521"/>
            </a:avLst>
          </a:prstGeom>
          <a:solidFill>
            <a:srgbClr val="FC1C4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470249" y="1462980"/>
            <a:ext cx="61071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추천 (LLM)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195935" y="1437680"/>
            <a:ext cx="383084" cy="155377"/>
          </a:xfrm>
          <a:prstGeom prst="roundRect">
            <a:avLst>
              <a:gd name="adj" fmla="val 24521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272135" y="1462980"/>
            <a:ext cx="2352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방법론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629769" y="1437680"/>
            <a:ext cx="460028" cy="155377"/>
          </a:xfrm>
          <a:prstGeom prst="roundRect">
            <a:avLst>
              <a:gd name="adj" fmla="val 24521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705969" y="1462980"/>
            <a:ext cx="3137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참고문헌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2501" y="1643807"/>
            <a:ext cx="306288" cy="155377"/>
          </a:xfrm>
          <a:prstGeom prst="roundRect">
            <a:avLst>
              <a:gd name="adj" fmla="val 24521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8701" y="1669107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04800" y="2053084"/>
            <a:ext cx="4063901" cy="831205"/>
          </a:xfrm>
          <a:prstGeom prst="roundRect">
            <a:avLst>
              <a:gd name="adj" fmla="val 1222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2501" y="2180034"/>
            <a:ext cx="37826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리포트 (확장 섹션)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2501" y="2395835"/>
            <a:ext cx="766167" cy="155377"/>
          </a:xfrm>
          <a:prstGeom prst="roundRect">
            <a:avLst>
              <a:gd name="adj" fmla="val 24521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58701" y="2421136"/>
            <a:ext cx="62604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세포 유형 UMAP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299418" y="2395835"/>
            <a:ext cx="561529" cy="155377"/>
          </a:xfrm>
          <a:prstGeom prst="roundRect">
            <a:avLst>
              <a:gd name="adj" fmla="val 24521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375618" y="2421136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마커 유전자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911697" y="2395835"/>
            <a:ext cx="484584" cy="155377"/>
          </a:xfrm>
          <a:prstGeom prst="roundRect">
            <a:avLst>
              <a:gd name="adj" fmla="val 24521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987897" y="2421136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세포 구성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447032" y="2395835"/>
            <a:ext cx="484584" cy="155377"/>
          </a:xfrm>
          <a:prstGeom prst="roundRect">
            <a:avLst>
              <a:gd name="adj" fmla="val 24521"/>
            </a:avLst>
          </a:prstGeom>
          <a:solidFill>
            <a:srgbClr val="FC1C4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523232" y="2421136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궤적 분석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982367" y="2395835"/>
            <a:ext cx="613767" cy="155377"/>
          </a:xfrm>
          <a:prstGeom prst="roundRect">
            <a:avLst>
              <a:gd name="adj" fmla="val 24521"/>
            </a:avLst>
          </a:prstGeom>
          <a:solidFill>
            <a:srgbClr val="FC1C4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058567" y="2421136"/>
            <a:ext cx="4705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종양미세환경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82501" y="2601962"/>
            <a:ext cx="844302" cy="155377"/>
          </a:xfrm>
          <a:prstGeom prst="roundRect">
            <a:avLst>
              <a:gd name="adj" fmla="val 24521"/>
            </a:avLst>
          </a:prstGeom>
          <a:solidFill>
            <a:srgbClr val="FC1C4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58701" y="2627263"/>
            <a:ext cx="7057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유전자조절네트워크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377553" y="2601962"/>
            <a:ext cx="644723" cy="155377"/>
          </a:xfrm>
          <a:prstGeom prst="roundRect">
            <a:avLst>
              <a:gd name="adj" fmla="val 24521"/>
            </a:avLst>
          </a:prstGeom>
          <a:solidFill>
            <a:srgbClr val="FC1C4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453753" y="2627263"/>
            <a:ext cx="5021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CNV / 배수체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073027" y="2601962"/>
            <a:ext cx="638324" cy="155377"/>
          </a:xfrm>
          <a:prstGeom prst="roundRect">
            <a:avLst>
              <a:gd name="adj" fmla="val 24521"/>
            </a:avLst>
          </a:prstGeom>
          <a:solidFill>
            <a:srgbClr val="FC1C4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149227" y="2627263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세포 상호작용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04800" y="3011239"/>
            <a:ext cx="4063901" cy="1041202"/>
          </a:xfrm>
          <a:prstGeom prst="roundRect">
            <a:avLst>
              <a:gd name="adj" fmla="val 9758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82501" y="3138190"/>
            <a:ext cx="37826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생성 콘텐츠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2501" y="3353991"/>
            <a:ext cx="37826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초록: Claude Opus 스토리텔링 (~$0.30)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2501" y="3544491"/>
            <a:ext cx="37826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추천: 치료 표적, 약물 재목적화, 실험 검증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2501" y="3734991"/>
            <a:ext cx="37826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해석에 PMID 참조 포함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46402" y="888802"/>
            <a:ext cx="4292798" cy="1422202"/>
          </a:xfrm>
          <a:prstGeom prst="roundRect">
            <a:avLst>
              <a:gd name="adj" fmla="val 7144"/>
            </a:avLst>
          </a:prstGeom>
          <a:solidFill>
            <a:srgbClr val="F0F1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724102" y="1015752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 기능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724102" y="1231553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Plotly.js 차트: 확대/축소, 호버 툴팁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24102" y="1422053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힘 기반 네트워크 그래프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724102" y="1612553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정렬/필터 가능한 데이터 테이블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724102" y="1803053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부록에서 전체 데이터셋 CSV 다운로드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724102" y="1993553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HTML 파일 (서버 불필요)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546402" y="2437954"/>
            <a:ext cx="4292798" cy="1231702"/>
          </a:xfrm>
          <a:prstGeom prst="roundRect">
            <a:avLst>
              <a:gd name="adj" fmla="val 8249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724102" y="2564904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리포트 아키텍처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724102" y="2780705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Bulk/Single-cell 공유 CSS/스타일 시스템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724102" y="2971205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유형에 따른 적응형 섹션 선택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724102" y="3161705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파일 기반 선택 섹션 자동 활성화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724102" y="3352205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Agent 호환 ReportAdapter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546402" y="3796605"/>
            <a:ext cx="4292798" cy="1231702"/>
          </a:xfrm>
          <a:prstGeom prst="roundRect">
            <a:avLst>
              <a:gd name="adj" fmla="val 8249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4724102" y="3923556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 안전장치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724102" y="4139357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유전자 != Driver 유전자 면책 조항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724102" y="4329857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예측 = 참고용, 진단이 아님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724102" y="4520357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해석에 불확실성 수준 표시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724102" y="4710857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실험 제안 포함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69813"/>
            <a:ext cx="205528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및 벤치마크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888802"/>
            <a:ext cx="1605260" cy="847427"/>
          </a:xfrm>
          <a:prstGeom prst="roundRect">
            <a:avLst>
              <a:gd name="adj" fmla="val 14987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7833" y="1066502"/>
            <a:ext cx="71317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5417" y="1415653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 AUC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37011" y="888802"/>
            <a:ext cx="1605409" cy="847427"/>
          </a:xfrm>
          <a:prstGeom prst="roundRect">
            <a:avLst>
              <a:gd name="adj" fmla="val 14987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43609" y="1066502"/>
            <a:ext cx="8080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12007" y="1415653"/>
            <a:ext cx="8552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Pan-Cancer (17종)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69370" y="888802"/>
            <a:ext cx="1605260" cy="847427"/>
          </a:xfrm>
          <a:prstGeom prst="roundRect">
            <a:avLst>
              <a:gd name="adj" fmla="val 14987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91905" y="1066502"/>
            <a:ext cx="5713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33549" y="1434703"/>
            <a:ext cx="10769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파이프라인 (50 샘플)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01580" y="888802"/>
            <a:ext cx="1605409" cy="847427"/>
          </a:xfrm>
          <a:prstGeom prst="roundRect">
            <a:avLst>
              <a:gd name="adj" fmla="val 14987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89588" y="1066502"/>
            <a:ext cx="6419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22270" y="1415653"/>
            <a:ext cx="7638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VectorDB 논문 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33940" y="888802"/>
            <a:ext cx="1605260" cy="847427"/>
          </a:xfrm>
          <a:prstGeom prst="roundRect">
            <a:avLst>
              <a:gd name="adj" fmla="val 14987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88784" y="1066502"/>
            <a:ext cx="30133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39033" y="1415653"/>
            <a:ext cx="5950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 섹션 수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4800" y="1888629"/>
            <a:ext cx="4178350" cy="1142554"/>
          </a:xfrm>
          <a:prstGeom prst="roundRect">
            <a:avLst>
              <a:gd name="adj" fmla="val 11115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501" y="2041029"/>
            <a:ext cx="38994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RNA-seq 검증 결과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501" y="2279154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 BRCA (50 샘플): DEG 7,583개, 네트워크 엣지 338만개, Hub 유전자 20개 식별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2501" y="2479030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분석: GO/KEGG 66개 유의 용어 (p-adj &lt; 0.05)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2501" y="2678906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COSMIC/OncoKB 매칭률: Hub 유전자 80% 이상 검증됨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4800" y="3158133"/>
            <a:ext cx="4178350" cy="1142554"/>
          </a:xfrm>
          <a:prstGeom prst="roundRect">
            <a:avLst>
              <a:gd name="adj" fmla="val 11115"/>
            </a:avLst>
          </a:prstGeom>
          <a:solidFill>
            <a:srgbClr val="F0F1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2501" y="3310533"/>
            <a:ext cx="38994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Pan-Cancer 정확도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501" y="3548658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85개 중 84개 정답 (98.8%)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2501" y="3748534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오분류 1건: SKCM → HNSC (점막 흑색종 유사 패턴)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2501" y="3948410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혼동 가능 쌍 탐지: 편평상피암, 선암, 소화기 암종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0850" y="1888629"/>
            <a:ext cx="4178350" cy="1142554"/>
          </a:xfrm>
          <a:prstGeom prst="roundRect">
            <a:avLst>
              <a:gd name="adj" fmla="val 11115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38551" y="2041029"/>
            <a:ext cx="38994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검증 결과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38551" y="2279154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CellTypist 면역/종양 사전학습 모델 기반 세포 주석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38551" y="2479030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Wilcoxon 순위합 검정으로 클러스터별 마커 탐지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38551" y="2678906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Pseudo-bulk 집계로 클러스터별 ML 예측 가능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60850" y="3158133"/>
            <a:ext cx="4178350" cy="1142554"/>
          </a:xfrm>
          <a:prstGeom prst="roundRect">
            <a:avLst>
              <a:gd name="adj" fmla="val 11115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38551" y="3310533"/>
            <a:ext cx="38994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해석 품질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38551" y="3548658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17개 암종 53K+ 논문 청크 인덱싱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38551" y="3748534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유전자 해석에 PMID 인용 포함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38551" y="3948410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기반 확장 초록 스토리텔링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04800" y="4453086"/>
            <a:ext cx="8534400" cy="609451"/>
          </a:xfrm>
          <a:prstGeom prst="roundRect">
            <a:avLst>
              <a:gd name="adj" fmla="val 2083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2501" y="4580037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벤치마크 (TCGA BRCA 50 샘플)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2501" y="4783187"/>
            <a:ext cx="10020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 (DEG): ~30초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668066" y="4783187"/>
            <a:ext cx="10784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 (네트워크): ~2분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928491" y="4783187"/>
            <a:ext cx="95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 (경로): ~22초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069705" y="4783187"/>
            <a:ext cx="8992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 (검증): ~2분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54513" y="4783187"/>
            <a:ext cx="9888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5 (시각화): ~2분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27130" y="4783187"/>
            <a:ext cx="9888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6 (리포트): ~1분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69813"/>
            <a:ext cx="17864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개발 계획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914251"/>
            <a:ext cx="2726234" cy="2160984"/>
          </a:xfrm>
          <a:prstGeom prst="roundRect">
            <a:avLst>
              <a:gd name="adj" fmla="val 5877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938064"/>
            <a:ext cx="2726234" cy="0"/>
          </a:xfrm>
          <a:prstGeom prst="line">
            <a:avLst/>
          </a:prstGeom>
          <a:noFill/>
          <a:ln w="47625">
            <a:solidFill>
              <a:srgbClr val="FC1C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177826"/>
            <a:ext cx="639068" cy="174427"/>
          </a:xfrm>
          <a:prstGeom prst="roundRect">
            <a:avLst>
              <a:gd name="adj" fmla="val 29124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203127"/>
            <a:ext cx="444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3400" y="1453753"/>
            <a:ext cx="2314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 버전 보고서 추가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3400" y="1755279"/>
            <a:ext cx="23144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리포트 생성 (한국어 / 영어)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1988790"/>
            <a:ext cx="23144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ReportConfig 언어 파라미터로 자동 전환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3400" y="2222302"/>
            <a:ext cx="23144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해석 출력 언어 선택 지원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3400" y="2455813"/>
            <a:ext cx="23144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연구자 접근성 확대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8734" y="914251"/>
            <a:ext cx="2726382" cy="2160984"/>
          </a:xfrm>
          <a:prstGeom prst="roundRect">
            <a:avLst>
              <a:gd name="adj" fmla="val 5877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08734" y="938064"/>
            <a:ext cx="2726382" cy="0"/>
          </a:xfrm>
          <a:prstGeom prst="line">
            <a:avLst/>
          </a:prstGeom>
          <a:noFill/>
          <a:ln w="47625">
            <a:solidFill>
              <a:srgbClr val="FC1C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37334" y="1177826"/>
            <a:ext cx="639068" cy="174427"/>
          </a:xfrm>
          <a:prstGeom prst="roundRect">
            <a:avLst>
              <a:gd name="adj" fmla="val 29124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38835" y="1203127"/>
            <a:ext cx="444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37334" y="1453753"/>
            <a:ext cx="231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정확도 향상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37334" y="1755279"/>
            <a:ext cx="23145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 외 학습 데이터 확장 (GEO, TARGET)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37334" y="1988790"/>
            <a:ext cx="231456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앙상블 방법: CatBoost + XGBoost + LightGBM 투표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37334" y="2405063"/>
            <a:ext cx="23145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혼동 가능 암종 쌍 전용 분류기 개발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37334" y="2638574"/>
            <a:ext cx="23145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코호트 교차 검증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12818" y="914251"/>
            <a:ext cx="2726382" cy="2160984"/>
          </a:xfrm>
          <a:prstGeom prst="roundRect">
            <a:avLst>
              <a:gd name="adj" fmla="val 5877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112818" y="938064"/>
            <a:ext cx="2726382" cy="0"/>
          </a:xfrm>
          <a:prstGeom prst="line">
            <a:avLst/>
          </a:prstGeom>
          <a:noFill/>
          <a:ln w="47625">
            <a:solidFill>
              <a:srgbClr val="FC1C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1418" y="1177826"/>
            <a:ext cx="639068" cy="174427"/>
          </a:xfrm>
          <a:prstGeom prst="roundRect">
            <a:avLst>
              <a:gd name="adj" fmla="val 29124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42918" y="1203127"/>
            <a:ext cx="444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41418" y="1453753"/>
            <a:ext cx="231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강화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41418" y="1755279"/>
            <a:ext cx="23145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SCENIC+ 기반 향상된 유전자 조절 네트워크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41418" y="1988790"/>
            <a:ext cx="23145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CellChat / CellPhoneDB 세포 간 상호작용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41418" y="2222302"/>
            <a:ext cx="23145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inferCNV / CopyKAT 악성 세포 감별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41418" y="2455813"/>
            <a:ext cx="23145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 전사체학 통합 (Visium)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4800" y="3252936"/>
            <a:ext cx="8534400" cy="993279"/>
          </a:xfrm>
          <a:prstGeom prst="roundRect">
            <a:avLst>
              <a:gd name="adj" fmla="val 12786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3400" y="3430637"/>
            <a:ext cx="25735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 중인 모듈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3400" y="3668762"/>
            <a:ext cx="2573545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Multi-omic: WGS/WES 변이 + RNA-seq 통합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3400" y="3868638"/>
            <a:ext cx="2573545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단백질체학: 질량분석 데이터 분석 파이프라인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10384" y="3430637"/>
            <a:ext cx="25736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 확장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10384" y="3668762"/>
            <a:ext cx="257369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DGIdb 연동 약물 탐색 모듈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10384" y="3868638"/>
            <a:ext cx="257369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식별된 표적 기반 임상시험 매칭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087517" y="3430637"/>
            <a:ext cx="25735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87517" y="3668762"/>
            <a:ext cx="2573545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배포 (GCP / AWS) 확장성 확보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087517" y="3868638"/>
            <a:ext cx="2573545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코호트 연구 배치 처리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670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300460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800"/>
              </a:spcAft>
              <a:buNone/>
            </a:pPr>
            <a:r>
              <a:rPr lang="en-US" sz="14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 - RNA-seq 분석 플랫폼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875086"/>
            <a:ext cx="2438400" cy="957858"/>
          </a:xfrm>
          <a:prstGeom prst="roundRect">
            <a:avLst>
              <a:gd name="adj" fmla="val 1325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49226" y="2062311"/>
            <a:ext cx="21052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6-Agent 파이프라인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49226" y="2300436"/>
            <a:ext cx="2105227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DEG, 네트워크, 경로, 검증, 시각화, 리포트 자동화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352800" y="1875086"/>
            <a:ext cx="2438400" cy="957858"/>
          </a:xfrm>
          <a:prstGeom prst="roundRect">
            <a:avLst>
              <a:gd name="adj" fmla="val 1325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40026" y="2062311"/>
            <a:ext cx="21052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암종 예측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40026" y="2300436"/>
            <a:ext cx="2105227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 + SHAP 기반 Pan-Cancer 98.8% 정확도 (17종)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0" y="1875086"/>
            <a:ext cx="2438400" cy="957858"/>
          </a:xfrm>
          <a:prstGeom prst="roundRect">
            <a:avLst>
              <a:gd name="adj" fmla="val 1325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30826" y="2062311"/>
            <a:ext cx="21052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문헌 해석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30826" y="2300436"/>
            <a:ext cx="2105227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850편 이상 논문, PMID 인용 기반 유전자 해석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62000" y="3137743"/>
            <a:ext cx="7620000" cy="670322"/>
          </a:xfrm>
          <a:prstGeom prst="roundRect">
            <a:avLst>
              <a:gd name="adj" fmla="val 18946"/>
            </a:avLst>
          </a:prstGeom>
          <a:solidFill>
            <a:srgbClr val="FC1C4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85813" y="3137743"/>
            <a:ext cx="0" cy="670322"/>
          </a:xfrm>
          <a:prstGeom prst="line">
            <a:avLst/>
          </a:prstGeom>
          <a:noFill/>
          <a:ln w="47625">
            <a:solidFill>
              <a:srgbClr val="FC1C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2880" y="3340894"/>
            <a:ext cx="720586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"연구자의 발견을 가속화하되, 판단은 연구자에게"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74950" y="4061966"/>
            <a:ext cx="2793950" cy="314325"/>
          </a:xfrm>
          <a:prstGeom prst="roundRect">
            <a:avLst>
              <a:gd name="adj" fmla="val 80808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47011" y="4138166"/>
            <a:ext cx="28498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커널아카데미 | AI 심화캠프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BioInsight AI - RNA-seq 분석 플랫폼</dc:title>
  <dc:subject>PptxGenJS Presentation</dc:subject>
  <dc:creator>BioInsight AI Team</dc:creator>
  <cp:lastModifiedBy>BioInsight AI Team</cp:lastModifiedBy>
  <cp:revision>1</cp:revision>
  <dcterms:created xsi:type="dcterms:W3CDTF">2026-01-29T03:03:21Z</dcterms:created>
  <dcterms:modified xsi:type="dcterms:W3CDTF">2026-01-29T03:03:21Z</dcterms:modified>
</cp:coreProperties>
</file>