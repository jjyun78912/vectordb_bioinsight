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8651"/>
            <a:ext cx="30213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4: 유전자 DB 검증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0077" y="249138"/>
            <a:ext cx="22497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 / OncoKB / WGS 통합 검증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5550" y="787301"/>
            <a:ext cx="86015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파이프라인 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Hub Gene, Marker Gene의 암 데이터베이스 교차 검증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5550" y="1041202"/>
            <a:ext cx="1527423" cy="1085552"/>
          </a:xfrm>
          <a:prstGeom prst="roundRect">
            <a:avLst>
              <a:gd name="adj" fmla="val 9359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79587" y="11427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87338" y="1215628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0853" y="1472803"/>
            <a:ext cx="4768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유전자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54551" y="1634728"/>
            <a:ext cx="72942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Genes (Bulk)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Genes (SC)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상위 유전자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897410" y="1483965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77045" y="1041202"/>
            <a:ext cx="1527423" cy="1085552"/>
          </a:xfrm>
          <a:prstGeom prst="roundRect">
            <a:avLst>
              <a:gd name="adj" fmla="val 9359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01082" y="11427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08833" y="1215628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29633" y="1472803"/>
            <a:ext cx="6222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 매칭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02989" y="1634728"/>
            <a:ext cx="1075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CGC (Cancer Gene Census)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체세포 변이 빈도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/ Tier 2 분류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618905" y="1483965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98540" y="1041202"/>
            <a:ext cx="1527572" cy="1085552"/>
          </a:xfrm>
          <a:prstGeom prst="roundRect">
            <a:avLst>
              <a:gd name="adj" fmla="val 9359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422577" y="11427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30328" y="1215628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51128" y="1472803"/>
            <a:ext cx="6222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OncoKB 매칭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62928" y="1634728"/>
            <a:ext cx="79879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Oncogene / TSG 분류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of Evidence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여부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340548" y="1483965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20184" y="1041202"/>
            <a:ext cx="1546622" cy="1085552"/>
          </a:xfrm>
          <a:prstGeom prst="roundRect">
            <a:avLst>
              <a:gd name="adj" fmla="val 9359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53745" y="115222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61497" y="1225153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10229" y="1482328"/>
            <a:ext cx="5663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스코어링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33303" y="1644253"/>
            <a:ext cx="52023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매칭 점수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발현 변화 방향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문헌 근거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7081242" y="1483965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60878" y="1041202"/>
            <a:ext cx="1527572" cy="1085552"/>
          </a:xfrm>
          <a:prstGeom prst="roundRect">
            <a:avLst>
              <a:gd name="adj" fmla="val 9359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884914" y="11427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992666" y="1215628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05610" y="1472803"/>
            <a:ext cx="4381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해석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501241" y="1634728"/>
            <a:ext cx="104684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PubMedBERT + ChromaDB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유전자별 문헌 기반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 (PMID 인용)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55550" y="2228255"/>
            <a:ext cx="4133850" cy="1186458"/>
          </a:xfrm>
          <a:prstGeom prst="roundRect">
            <a:avLst>
              <a:gd name="adj" fmla="val 8563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33251" y="2387054"/>
            <a:ext cx="1024682" cy="155377"/>
          </a:xfrm>
          <a:prstGeom prst="roundRect">
            <a:avLst>
              <a:gd name="adj" fmla="val 32695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4752" y="2412355"/>
            <a:ext cx="8381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GENE (발현 기반)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533251" y="2618631"/>
            <a:ext cx="38540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기반 발현 변화 상위 유전자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3251" y="2812256"/>
            <a:ext cx="385401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데이터: RNA-seq (mRNA 발현량)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33251" y="2970758"/>
            <a:ext cx="385401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산출: |log2FC| x -log10(p-value)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33251" y="3129260"/>
            <a:ext cx="385401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의미: 전사체 수준 변화 반영 (결과)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616351" y="2228255"/>
            <a:ext cx="4172099" cy="1186458"/>
          </a:xfrm>
          <a:prstGeom prst="roundRect">
            <a:avLst>
              <a:gd name="adj" fmla="val 856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635401" y="2228255"/>
            <a:ext cx="0" cy="1186458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32152" y="2387054"/>
            <a:ext cx="1157585" cy="155377"/>
          </a:xfrm>
          <a:prstGeom prst="roundRect">
            <a:avLst>
              <a:gd name="adj" fmla="val 32695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933652" y="2412355"/>
            <a:ext cx="9736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GENE (변이 기반)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832152" y="2618631"/>
            <a:ext cx="38541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암 발생/진행 직접 유발 유전자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32152" y="2812256"/>
            <a:ext cx="385416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데이터: WGS/WES (DNA 변이)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832152" y="2970758"/>
            <a:ext cx="385416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산출: 체세포 변이 빈도 + 기능적 증거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832152" y="3129260"/>
            <a:ext cx="385416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의미: 단백질 기능 변화 유발 (원인)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55550" y="3516213"/>
            <a:ext cx="4152900" cy="1322636"/>
          </a:xfrm>
          <a:prstGeom prst="roundRect">
            <a:avLst>
              <a:gd name="adj" fmla="val 7682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355550" y="3535263"/>
            <a:ext cx="415290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3251" y="3681264"/>
            <a:ext cx="3873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Multi-omic 통합 (RNA-seq + WGS/WES)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3251" y="3887539"/>
            <a:ext cx="3873448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VCF/MAF 파일 존재 시 자동 활성화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33251" y="4046041"/>
            <a:ext cx="3873448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변이 검출 (KRAS G12C, BRAF V600E 등)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33251" y="4204543"/>
            <a:ext cx="3873448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LOF/GOF 효과 예측 + VAF/Depth 품질 필터링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33251" y="4388495"/>
            <a:ext cx="922734" cy="136327"/>
          </a:xfrm>
          <a:prstGeom prst="roundRect">
            <a:avLst>
              <a:gd name="adj" fmla="val 37263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09451" y="4413796"/>
            <a:ext cx="78574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confirmed_driver ≥80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1506736" y="4388495"/>
            <a:ext cx="905619" cy="136327"/>
          </a:xfrm>
          <a:prstGeom prst="roundRect">
            <a:avLst>
              <a:gd name="adj" fmla="val 37263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582936" y="4413796"/>
            <a:ext cx="7682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high_confidence ≥60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2463105" y="4388495"/>
            <a:ext cx="655886" cy="136327"/>
          </a:xfrm>
          <a:prstGeom prst="roundRect">
            <a:avLst>
              <a:gd name="adj" fmla="val 37263"/>
            </a:avLst>
          </a:prstGeom>
          <a:solidFill>
            <a:srgbClr val="FEF9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2539305" y="4413796"/>
            <a:ext cx="5135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≥40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33251" y="4575572"/>
            <a:ext cx="1338114" cy="136327"/>
          </a:xfrm>
          <a:prstGeom prst="roundRect">
            <a:avLst>
              <a:gd name="adj" fmla="val 3726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09451" y="4600873"/>
            <a:ext cx="120942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mutation_only / expression_only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4635401" y="3516213"/>
            <a:ext cx="4153049" cy="1322636"/>
          </a:xfrm>
          <a:prstGeom prst="roundRect">
            <a:avLst>
              <a:gd name="adj" fmla="val 7682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813102" y="3643164"/>
            <a:ext cx="38736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Gene ≠ Driver Gene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813102" y="3839914"/>
            <a:ext cx="3873600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TP53 변이: 단백질 기능 상실이지만 mRNA 정상 가능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813102" y="3998416"/>
            <a:ext cx="3873600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단독: DB 매칭 예측만 (PREDICTION)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813102" y="4156918"/>
            <a:ext cx="3873600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+ WGS: 변이 검증 가능 (IDENTIFICATION)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4813102" y="4315420"/>
            <a:ext cx="3873600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리포트에 면책 조항 필수 표시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8651"/>
            <a:ext cx="31953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6: LLM 기반 리포트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40634" y="249138"/>
            <a:ext cx="16980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해석 + 검증 + 자동 생성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5550" y="787301"/>
            <a:ext cx="86015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해석 파이프라인 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유전자별 문헌 근거 기반 해석, 모든 해석에 PMID 인용 필수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32545" y="1041202"/>
            <a:ext cx="1346002" cy="1085552"/>
          </a:xfrm>
          <a:prstGeom prst="roundRect">
            <a:avLst>
              <a:gd name="adj" fmla="val 9359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65796" y="11427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73547" y="1215628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11844" y="1472803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쿼리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35447" y="1634728"/>
            <a:ext cx="74004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Symbol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Type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발현 방향 (Up/Down)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184797" y="1483965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56247" y="1041202"/>
            <a:ext cx="1346002" cy="1085552"/>
          </a:xfrm>
          <a:prstGeom prst="roundRect">
            <a:avLst>
              <a:gd name="adj" fmla="val 9359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89498" y="11427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997250" y="1215628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86778" y="1472803"/>
            <a:ext cx="6847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PubMedBERT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14708" y="1625203"/>
            <a:ext cx="62907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 도메인 특화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벡터 생성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(768차원)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708499" y="1483965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79949" y="1041202"/>
            <a:ext cx="1346002" cy="1085552"/>
          </a:xfrm>
          <a:prstGeom prst="roundRect">
            <a:avLst>
              <a:gd name="adj" fmla="val 9359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413200" y="11427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20952" y="1215628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78449" y="1472803"/>
            <a:ext cx="7488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검색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54655" y="1634728"/>
            <a:ext cx="59644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~850편 논문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53,000+ chunks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유사 문헌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232202" y="1483965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03652" y="1041202"/>
            <a:ext cx="1365052" cy="1085552"/>
          </a:xfrm>
          <a:prstGeom prst="roundRect">
            <a:avLst>
              <a:gd name="adj" fmla="val 9359"/>
            </a:avLst>
          </a:prstGeom>
          <a:solidFill>
            <a:srgbClr val="FFFBEB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46428" y="115222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54179" y="1225153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10764" y="1482328"/>
            <a:ext cx="7508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해석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12018" y="1644253"/>
            <a:ext cx="54831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문헌 근거 종합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 인용 생성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해석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774954" y="1483965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46404" y="1041202"/>
            <a:ext cx="1365052" cy="1085552"/>
          </a:xfrm>
          <a:prstGeom prst="roundRect">
            <a:avLst>
              <a:gd name="adj" fmla="val 9359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489180" y="115222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596932" y="1225153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86460" y="1482328"/>
            <a:ext cx="6847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해석 출력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289798" y="1644253"/>
            <a:ext cx="67826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유전자 기능 설명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암종 특이 맥락</a:t>
            </a:r>
            <a:endParaRPr lang="en-US" sz="6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[PMID: 12345678]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55550" y="2228255"/>
            <a:ext cx="86015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생성 리포트 섹션 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Claude Opus 4 (Extended Abstract) + Sonnet 4 (일반 해석)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5550" y="2482155"/>
            <a:ext cx="2743200" cy="982117"/>
          </a:xfrm>
          <a:prstGeom prst="roundRect">
            <a:avLst>
              <a:gd name="adj" fmla="val 10345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374600" y="2482155"/>
            <a:ext cx="0" cy="98211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6050" y="2609106"/>
            <a:ext cx="24483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초록 (Extended Abstract)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6050" y="2815382"/>
            <a:ext cx="2448306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모델로 전체 분석 결과를 스토리텔링 형식으로 요약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46050" y="2982813"/>
            <a:ext cx="2448306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DEG, Network, Pathway 결과를 통합 서술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46050" y="3200995"/>
            <a:ext cx="410766" cy="136327"/>
          </a:xfrm>
          <a:prstGeom prst="roundRect">
            <a:avLst>
              <a:gd name="adj" fmla="val 37263"/>
            </a:avLst>
          </a:prstGeom>
          <a:solidFill>
            <a:srgbClr val="FDE6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22250" y="3226296"/>
            <a:ext cx="2635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4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1049982" y="3200995"/>
            <a:ext cx="654397" cy="136327"/>
          </a:xfrm>
          <a:prstGeom prst="roundRect">
            <a:avLst>
              <a:gd name="adj" fmla="val 37263"/>
            </a:avLst>
          </a:prstGeom>
          <a:solidFill>
            <a:srgbClr val="FDE6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126182" y="3226296"/>
            <a:ext cx="5120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~8,000 tokens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3200251" y="2482155"/>
            <a:ext cx="2743349" cy="982117"/>
          </a:xfrm>
          <a:prstGeom prst="roundRect">
            <a:avLst>
              <a:gd name="adj" fmla="val 10345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3219301" y="2482155"/>
            <a:ext cx="0" cy="98211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90751" y="2609106"/>
            <a:ext cx="24484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추천 (Research Recommendations)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390751" y="2815382"/>
            <a:ext cx="2448458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치료 표적, 약물 재목적화, 실험 검증 프로토콜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390751" y="2982813"/>
            <a:ext cx="2448458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바이오마커 후보, 단/중/장기 연구 방향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390751" y="3200995"/>
            <a:ext cx="486966" cy="136327"/>
          </a:xfrm>
          <a:prstGeom prst="roundRect">
            <a:avLst>
              <a:gd name="adj" fmla="val 37263"/>
            </a:avLst>
          </a:prstGeom>
          <a:solidFill>
            <a:srgbClr val="FDE6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466951" y="3226296"/>
            <a:ext cx="34125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DGIdb v5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970883" y="3200995"/>
            <a:ext cx="513011" cy="136327"/>
          </a:xfrm>
          <a:prstGeom prst="roundRect">
            <a:avLst>
              <a:gd name="adj" fmla="val 37263"/>
            </a:avLst>
          </a:prstGeom>
          <a:solidFill>
            <a:srgbClr val="FDE6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047083" y="3226296"/>
            <a:ext cx="3678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출력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6045101" y="2482155"/>
            <a:ext cx="2743349" cy="982117"/>
          </a:xfrm>
          <a:prstGeom prst="roundRect">
            <a:avLst>
              <a:gd name="adj" fmla="val 10345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6064151" y="2482155"/>
            <a:ext cx="0" cy="98211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35601" y="2609106"/>
            <a:ext cx="24484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임상 시사점 (Clinical Insights)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235601" y="2815382"/>
            <a:ext cx="2448458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Gene의 약물 상호작용 (DGIdb)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235601" y="2982813"/>
            <a:ext cx="2448458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승인 약물, Actionable 표적 식별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235601" y="3200995"/>
            <a:ext cx="474166" cy="136327"/>
          </a:xfrm>
          <a:prstGeom prst="roundRect">
            <a:avLst>
              <a:gd name="adj" fmla="val 37263"/>
            </a:avLst>
          </a:prstGeom>
          <a:solidFill>
            <a:srgbClr val="FDE6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311801" y="3226296"/>
            <a:ext cx="3282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4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6802934" y="3200995"/>
            <a:ext cx="496044" cy="136327"/>
          </a:xfrm>
          <a:prstGeom prst="roundRect">
            <a:avLst>
              <a:gd name="adj" fmla="val 37263"/>
            </a:avLst>
          </a:prstGeom>
          <a:solidFill>
            <a:srgbClr val="FDE6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879134" y="3226296"/>
            <a:ext cx="3505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 필수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355550" y="3565773"/>
            <a:ext cx="2743200" cy="1145381"/>
          </a:xfrm>
          <a:prstGeom prst="roundRect">
            <a:avLst>
              <a:gd name="adj" fmla="val 8870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07950" y="3692723"/>
            <a:ext cx="24871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VectorDB 논문 컬렉션 (17종 암종)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07950" y="3898999"/>
            <a:ext cx="2487168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BRCA, COAD, HNSC, LUAD, LUSC, KIRC, LIHC 등 17종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07950" y="4057501"/>
            <a:ext cx="2487168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암종별 50편 (총 ~850편), PubMedBERT 임베딩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07950" y="4216003"/>
            <a:ext cx="2487168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인용 수 기반 품질 점수 (Semantic Scholar API)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07950" y="4399955"/>
            <a:ext cx="717947" cy="136327"/>
          </a:xfrm>
          <a:prstGeom prst="roundRect">
            <a:avLst>
              <a:gd name="adj" fmla="val 37263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584150" y="4425255"/>
            <a:ext cx="5768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53,000+ chunks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1302097" y="4399955"/>
            <a:ext cx="564505" cy="136327"/>
          </a:xfrm>
          <a:prstGeom prst="roundRect">
            <a:avLst>
              <a:gd name="adj" fmla="val 37263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1378297" y="4425255"/>
            <a:ext cx="4203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768차원 벡터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1942802" y="4399955"/>
            <a:ext cx="507206" cy="136327"/>
          </a:xfrm>
          <a:prstGeom prst="roundRect">
            <a:avLst>
              <a:gd name="adj" fmla="val 37263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2019002" y="4425255"/>
            <a:ext cx="3619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검색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3200251" y="3565773"/>
            <a:ext cx="2743349" cy="1145381"/>
          </a:xfrm>
          <a:prstGeom prst="roundRect">
            <a:avLst>
              <a:gd name="adj" fmla="val 8870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3352651" y="3692723"/>
            <a:ext cx="24873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Fallback Chain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352651" y="3889474"/>
            <a:ext cx="2487320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1차: OpenAI (gpt-4o-mini) - 빠르고 저렴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3352651" y="4047976"/>
            <a:ext cx="2487320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2차: Claude API (Anthropic) - Fallback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3352651" y="4206478"/>
            <a:ext cx="2487320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3차: Vertex AI (Google) - Secondary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3352651" y="4390430"/>
            <a:ext cx="437257" cy="136327"/>
          </a:xfrm>
          <a:prstGeom prst="roundRect">
            <a:avLst>
              <a:gd name="adj" fmla="val 37263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3428851" y="4415730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전환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3866108" y="4390430"/>
            <a:ext cx="416123" cy="136327"/>
          </a:xfrm>
          <a:prstGeom prst="roundRect">
            <a:avLst>
              <a:gd name="adj" fmla="val 37263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3942308" y="4415730"/>
            <a:ext cx="2689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고가용성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6045101" y="3565773"/>
            <a:ext cx="2743349" cy="1145381"/>
          </a:xfrm>
          <a:prstGeom prst="roundRect">
            <a:avLst>
              <a:gd name="adj" fmla="val 8870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6197501" y="3692723"/>
            <a:ext cx="24873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안전장치 (Guardrail)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197501" y="3898999"/>
            <a:ext cx="2487320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Gene != Driver Gene 면책 조항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6197501" y="4070300"/>
            <a:ext cx="2487320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예측 = 참고용 (진단 아님)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6197501" y="4241602"/>
            <a:ext cx="2487320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해석에 PMID 인용 필수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6197501" y="4412903"/>
            <a:ext cx="2487320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 없는 주장 금지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BioInsight AI - DB 검증 &amp; RAG 리포트</dc:title>
  <dc:subject>PptxGenJS Presentation</dc:subject>
  <dc:creator>BioInsight AI Team</dc:creator>
  <cp:lastModifiedBy>BioInsight AI Team</cp:lastModifiedBy>
  <cp:revision>1</cp:revision>
  <dcterms:created xsi:type="dcterms:W3CDTF">2026-01-29T07:41:42Z</dcterms:created>
  <dcterms:modified xsi:type="dcterms:W3CDTF">2026-01-29T07:41:42Z</dcterms:modified>
</cp:coreProperties>
</file>