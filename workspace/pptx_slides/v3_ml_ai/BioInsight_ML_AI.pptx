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8584" y="1784300"/>
            <a:ext cx="580683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and AI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2751088" y="2536775"/>
            <a:ext cx="371450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CatBoost, RAG, LLM Integration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665214" y="3149501"/>
            <a:ext cx="38896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 meets Literature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99111" y="4470499"/>
            <a:ext cx="19845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 | ML/AI Deep Dive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Components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2709267" cy="1276648"/>
          </a:xfrm>
          <a:prstGeom prst="roundRect">
            <a:avLst>
              <a:gd name="adj" fmla="val 59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17450" y="1038225"/>
            <a:ext cx="2709267" cy="0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9850" y="1209675"/>
            <a:ext cx="24525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9850" y="1511201"/>
            <a:ext cx="24525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 classifier for cancer type prediction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9850" y="1721941"/>
            <a:ext cx="24525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explainability for gene contributions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9850" y="1932682"/>
            <a:ext cx="24525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on TCGA datasets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17218" y="1019175"/>
            <a:ext cx="2709416" cy="1276648"/>
          </a:xfrm>
          <a:prstGeom prst="roundRect">
            <a:avLst>
              <a:gd name="adj" fmla="val 59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17218" y="1038225"/>
            <a:ext cx="2709416" cy="0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9618" y="1209675"/>
            <a:ext cx="24527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System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9618" y="1511201"/>
            <a:ext cx="24527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 embeddings (768-dim)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69618" y="1721941"/>
            <a:ext cx="24527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vector store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69618" y="1932682"/>
            <a:ext cx="24527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Literature-backed interpretation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17134" y="1019175"/>
            <a:ext cx="2709416" cy="1276648"/>
          </a:xfrm>
          <a:prstGeom prst="roundRect">
            <a:avLst>
              <a:gd name="adj" fmla="val 59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17134" y="1038225"/>
            <a:ext cx="2709416" cy="0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9534" y="1209675"/>
            <a:ext cx="24527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Integration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9534" y="1511201"/>
            <a:ext cx="24527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Claude/OpenAI fallback chain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69534" y="1721941"/>
            <a:ext cx="24527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abstract generation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9534" y="1932682"/>
            <a:ext cx="24527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 Cancer Classifier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346150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36500" y="1346150"/>
            <a:ext cx="0" cy="580876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2501" y="1473101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2501" y="1666726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 RNA-seq (TPM normalized)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7450" y="2028527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6500" y="2028527"/>
            <a:ext cx="0" cy="580876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501" y="2155478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Preprocess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2501" y="2349103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log2 transform, standardization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7450" y="2710904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6500" y="2710904"/>
            <a:ext cx="0" cy="580876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501" y="2837855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HPO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501" y="3031480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 hyperparameter tuning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7450" y="3393281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36500" y="3393281"/>
            <a:ext cx="0" cy="580876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501" y="3520232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Train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501" y="3713857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 gradient boosting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9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98950" y="1346150"/>
            <a:ext cx="4127599" cy="650825"/>
          </a:xfrm>
          <a:prstGeom prst="roundRect">
            <a:avLst>
              <a:gd name="adj" fmla="val 11708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51350" y="1498550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Pan-Cancer (17 types)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51350" y="1701701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AUC: 0.988 | 11,000+ samples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98950" y="2098477"/>
            <a:ext cx="4127599" cy="650825"/>
          </a:xfrm>
          <a:prstGeom prst="roundRect">
            <a:avLst>
              <a:gd name="adj" fmla="val 11708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1350" y="2250877"/>
            <a:ext cx="3899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 Cancer (BRCA)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51350" y="245402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AUC: 0.998 | 1,222 samples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Explainability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127599" cy="1946523"/>
          </a:xfrm>
          <a:prstGeom prst="roundRect">
            <a:avLst>
              <a:gd name="adj" fmla="val 39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1171575"/>
            <a:ext cx="3899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SHAP?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9850" y="149855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9850" y="1692176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which genes drove the prediction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9850" y="197911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9850" y="2172742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can validate AI reasoning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9850" y="245968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9850" y="2653308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Reveals unexpected gene contributions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98950" y="1019175"/>
            <a:ext cx="4127599" cy="1946523"/>
          </a:xfrm>
          <a:prstGeom prst="roundRect">
            <a:avLst>
              <a:gd name="adj" fmla="val 39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51350" y="1171575"/>
            <a:ext cx="3899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51350" y="149855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 Plot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51350" y="1692176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contributing genes with direction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51350" y="197911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Plot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51350" y="2172742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feature importance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51350" y="245968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51350" y="2653308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feature importance ranking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Confusable Cancer Pairs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86792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Biologically Similar Cancer Types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346150"/>
            <a:ext cx="2831902" cy="561826"/>
          </a:xfrm>
          <a:prstGeom prst="roundRect">
            <a:avLst>
              <a:gd name="adj" fmla="val 90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36500" y="1346150"/>
            <a:ext cx="0" cy="561826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2501" y="147310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Squamous Cell (SCC)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2501" y="1666726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HNSC - LUSC - SKCM (same histology)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76302" y="1346150"/>
            <a:ext cx="2831902" cy="561826"/>
          </a:xfrm>
          <a:prstGeom prst="roundRect">
            <a:avLst>
              <a:gd name="adj" fmla="val 90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95352" y="1346150"/>
            <a:ext cx="0" cy="561826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1353" y="147310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Adenocarcinoma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41353" y="1666726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LUAD - PAAD (gland tissue origin)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7450" y="2034927"/>
            <a:ext cx="2831902" cy="561826"/>
          </a:xfrm>
          <a:prstGeom prst="roundRect">
            <a:avLst>
              <a:gd name="adj" fmla="val 90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6500" y="2034927"/>
            <a:ext cx="0" cy="561826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501" y="2161877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 Tract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501" y="2355503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COAD - STAD (digestive system)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76302" y="2034927"/>
            <a:ext cx="2831902" cy="561826"/>
          </a:xfrm>
          <a:prstGeom prst="roundRect">
            <a:avLst>
              <a:gd name="adj" fmla="val 90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95352" y="2034927"/>
            <a:ext cx="0" cy="561826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1353" y="2161877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Gynecologic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41353" y="2355503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 - UCEC (Mullerian origin)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7450" y="2723704"/>
            <a:ext cx="2831902" cy="561826"/>
          </a:xfrm>
          <a:prstGeom prst="roundRect">
            <a:avLst>
              <a:gd name="adj" fmla="val 90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36500" y="2723704"/>
            <a:ext cx="0" cy="561826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501" y="2850654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Tumors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501" y="3044279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GBM - LGG (neural tissue)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76302" y="2723704"/>
            <a:ext cx="2831902" cy="561826"/>
          </a:xfrm>
          <a:prstGeom prst="roundRect">
            <a:avLst>
              <a:gd name="adj" fmla="val 90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95352" y="2723704"/>
            <a:ext cx="0" cy="561826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1353" y="2850654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Renal/Liver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41353" y="3044279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KIRC - LIHC (metabolic organs)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7450" y="3437930"/>
            <a:ext cx="8509099" cy="387251"/>
          </a:xfrm>
          <a:prstGeom prst="roundRect">
            <a:avLst>
              <a:gd name="adj" fmla="val 13118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4401" y="3564880"/>
            <a:ext cx="84203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validation: confidence gap analysis + tissue-specific marker expression check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Interpretation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346150"/>
            <a:ext cx="4127599" cy="387251"/>
          </a:xfrm>
          <a:prstGeom prst="roundRect">
            <a:avLst>
              <a:gd name="adj" fmla="val 131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5664" y="1473101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+ Cancer + Direction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6174" y="1834902"/>
            <a:ext cx="42101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450" y="2095202"/>
            <a:ext cx="4127599" cy="387251"/>
          </a:xfrm>
          <a:prstGeom prst="roundRect">
            <a:avLst>
              <a:gd name="adj" fmla="val 131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5664" y="2222153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 Embedding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6174" y="2583954"/>
            <a:ext cx="42101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450" y="2844254"/>
            <a:ext cx="4127599" cy="387251"/>
          </a:xfrm>
          <a:prstGeom prst="roundRect">
            <a:avLst>
              <a:gd name="adj" fmla="val 131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5664" y="2971205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Vector Search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6174" y="3333006"/>
            <a:ext cx="42101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450" y="3593306"/>
            <a:ext cx="4127599" cy="387251"/>
          </a:xfrm>
          <a:prstGeom prst="roundRect">
            <a:avLst>
              <a:gd name="adj" fmla="val 131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5664" y="3720257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Interpretation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6174" y="4082058"/>
            <a:ext cx="42101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450" y="4342358"/>
            <a:ext cx="4127599" cy="387251"/>
          </a:xfrm>
          <a:prstGeom prst="roundRect">
            <a:avLst>
              <a:gd name="adj" fmla="val 131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5664" y="4469309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with PMID citations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989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Stats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98950" y="1346150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25901" y="1473101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Collections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5901" y="1666726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types indexed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98950" y="2028527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25901" y="2155478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Papers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5901" y="2349103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~850 RNA-seq papers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98950" y="2710904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25901" y="2837855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Chunks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5901" y="3031480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53,000+ searchable chunks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98950" y="3393281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25901" y="3520232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Model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25901" y="3713857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 768-dim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Provider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Chain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346150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36500" y="1346150"/>
            <a:ext cx="0" cy="580876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2501" y="1473101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OpenAI gpt-4o-mini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2501" y="1666726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- Fast, cost-effective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7450" y="2028527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6500" y="2028527"/>
            <a:ext cx="0" cy="580876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501" y="2155478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Claude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2501" y="2349103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- High quality reasoning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7450" y="2710904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6500" y="2710904"/>
            <a:ext cx="0" cy="580876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501" y="2837855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Vertex 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501" y="3031480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fallback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98950" y="1019175"/>
            <a:ext cx="4210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Task-Specific Models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98950" y="1346150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25901" y="1473101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Abstract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5901" y="1666726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 (~$0.30/report)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950" y="2028527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25901" y="2155478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Interpretation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5901" y="2349103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 (~$0.06/report)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8950" y="2710904"/>
            <a:ext cx="4127599" cy="580876"/>
          </a:xfrm>
          <a:prstGeom prst="roundRect">
            <a:avLst>
              <a:gd name="adj" fmla="val 8745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25901" y="2837855"/>
            <a:ext cx="3951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Responses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5901" y="3031480"/>
            <a:ext cx="3951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 (~$0.01/report)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DGIdb Drug-Gene Integration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4127599" cy="1946523"/>
          </a:xfrm>
          <a:prstGeom prst="roundRect">
            <a:avLst>
              <a:gd name="adj" fmla="val 39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9850" y="1171575"/>
            <a:ext cx="3899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9850" y="149855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Drug-Gene Interactions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9850" y="1692176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types, scores, evidence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9850" y="197911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Categories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9850" y="2172742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KINASE, RECEPTOR, DRUGGABLE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9850" y="245968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Approval Status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9850" y="2653308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drugs flagged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98950" y="1019175"/>
            <a:ext cx="4127599" cy="1946523"/>
          </a:xfrm>
          <a:prstGeom prst="roundRect">
            <a:avLst>
              <a:gd name="adj" fmla="val 39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51350" y="1171575"/>
            <a:ext cx="3899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51350" y="1498550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51350" y="1692176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DrugBank, PharmGKB, ChEMBL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51350" y="197911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51350" y="2172742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OncoKB, CIViC, Cancer Commons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51350" y="2459682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51350" y="2653308"/>
            <a:ext cx="38992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Therapeutic targets with PMIDs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Guardrails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7450" y="1019175"/>
            <a:ext cx="86792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and Transparency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1371600"/>
            <a:ext cx="2793802" cy="617637"/>
          </a:xfrm>
          <a:prstGeom prst="roundRect">
            <a:avLst>
              <a:gd name="adj" fmla="val 82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17450" y="1390650"/>
            <a:ext cx="2793802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4401" y="153665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 Citations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4401" y="1730276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interpretations backed by literature references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38202" y="1371600"/>
            <a:ext cx="2793802" cy="617637"/>
          </a:xfrm>
          <a:prstGeom prst="roundRect">
            <a:avLst>
              <a:gd name="adj" fmla="val 82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38202" y="1390650"/>
            <a:ext cx="2793802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5153" y="153665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65153" y="1730276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predictions include probability and confidence gap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7450" y="2116187"/>
            <a:ext cx="2793802" cy="617637"/>
          </a:xfrm>
          <a:prstGeom prst="roundRect">
            <a:avLst>
              <a:gd name="adj" fmla="val 82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17450" y="2135237"/>
            <a:ext cx="2793802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401" y="2281238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Suggestions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4401" y="2474863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protocols for verification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38202" y="2116187"/>
            <a:ext cx="2793802" cy="617637"/>
          </a:xfrm>
          <a:prstGeom prst="roundRect">
            <a:avLst>
              <a:gd name="adj" fmla="val 82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38202" y="2135237"/>
            <a:ext cx="2793802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5153" y="2281238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Disclosure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5153" y="2474863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statements about prediction vs diagnosis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7450" y="2860774"/>
            <a:ext cx="2793802" cy="617637"/>
          </a:xfrm>
          <a:prstGeom prst="roundRect">
            <a:avLst>
              <a:gd name="adj" fmla="val 82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17450" y="2879824"/>
            <a:ext cx="2793802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401" y="3025825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Validation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4401" y="3219450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Confusable pair detection and marker checks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38202" y="2860774"/>
            <a:ext cx="2793802" cy="617637"/>
          </a:xfrm>
          <a:prstGeom prst="roundRect">
            <a:avLst>
              <a:gd name="adj" fmla="val 82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38202" y="2879824"/>
            <a:ext cx="2793802" cy="0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5153" y="3025825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 Output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65153" y="3219450"/>
            <a:ext cx="259069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language for clarity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7450" y="3630811"/>
            <a:ext cx="8509099" cy="387251"/>
          </a:xfrm>
          <a:prstGeom prst="roundRect">
            <a:avLst>
              <a:gd name="adj" fmla="val 13118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4401" y="3757761"/>
            <a:ext cx="84203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"Predictions are for reference only, not diagnosis. Validation experiments are recommended."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459111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ML/AI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4901" y="2205186"/>
            <a:ext cx="2497634" cy="1009352"/>
          </a:xfrm>
          <a:prstGeom prst="roundRect">
            <a:avLst>
              <a:gd name="adj" fmla="val 754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5401" y="2395686"/>
            <a:ext cx="21589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5401" y="2668637"/>
            <a:ext cx="2158966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 + SHAP for explainable cancer classification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23034" y="2205186"/>
            <a:ext cx="2497782" cy="1009352"/>
          </a:xfrm>
          <a:prstGeom prst="roundRect">
            <a:avLst>
              <a:gd name="adj" fmla="val 754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13534" y="2395686"/>
            <a:ext cx="21591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13534" y="2668637"/>
            <a:ext cx="215911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system for literature-backed interpretation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11317" y="2205186"/>
            <a:ext cx="2497782" cy="1009352"/>
          </a:xfrm>
          <a:prstGeom prst="roundRect">
            <a:avLst>
              <a:gd name="adj" fmla="val 754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01817" y="2395686"/>
            <a:ext cx="21591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01817" y="2668637"/>
            <a:ext cx="215911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ensure uncertainty is communicated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6159" y="3531989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 - Trustworthy AI for Research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BioInsight AI - ML/AI Features</dc:title>
  <dc:subject>PptxGenJS Presentation</dc:subject>
  <dc:creator>BioInsight AI</dc:creator>
  <cp:lastModifiedBy>BioInsight AI</cp:lastModifiedBy>
  <cp:revision>1</cp:revision>
  <dcterms:created xsi:type="dcterms:W3CDTF">2026-01-26T16:33:59Z</dcterms:created>
  <dcterms:modified xsi:type="dcterms:W3CDTF">2026-01-26T16:33:59Z</dcterms:modified>
</cp:coreProperties>
</file>