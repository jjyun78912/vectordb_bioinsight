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907" y="1249412"/>
            <a:ext cx="762818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Cancer Analysis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57907" y="2027188"/>
            <a:ext cx="76281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Progress Report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57907" y="2760613"/>
            <a:ext cx="76281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 - Computational Biology Team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7907" y="3506688"/>
            <a:ext cx="76281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87326"/>
            <a:ext cx="3996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444526"/>
            <a:ext cx="3918049" cy="228987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DESeq2 differential expression via rpy2</a:t>
            </a:r>
            <a:endParaRPr lang="en-US" sz="1300" dirty="0"/>
          </a:p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Co-expression network analysis (NetworkX)</a:t>
            </a:r>
            <a:endParaRPr lang="en-US" sz="1300" dirty="0"/>
          </a:p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enrichment (GO/KEGG via gseapy)</a:t>
            </a:r>
            <a:endParaRPr lang="en-US" sz="1300" dirty="0"/>
          </a:p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gene validation (200+ genes DB)</a:t>
            </a:r>
            <a:endParaRPr lang="en-US" sz="1300" dirty="0"/>
          </a:p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Publication-quality visualizations</a:t>
            </a:r>
            <a:endParaRPr lang="en-US" sz="1300" dirty="0"/>
          </a:p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HTML reports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987326"/>
            <a:ext cx="0" cy="3902273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4951" y="987326"/>
            <a:ext cx="3996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Modules Added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4951" y="1444526"/>
            <a:ext cx="3918049" cy="228987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visualizations.py - Volcano, MA, PCA, Heatmap</a:t>
            </a:r>
            <a:endParaRPr lang="en-US" sz="1300" dirty="0"/>
          </a:p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disease_database.py - 44 cancer genes</a:t>
            </a:r>
            <a:endParaRPr lang="en-US" sz="1300" dirty="0"/>
          </a:p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validation_enhanced.py - 200+ genes, Tier1/2</a:t>
            </a:r>
            <a:endParaRPr lang="en-US" sz="1300" dirty="0"/>
          </a:p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qc_module.py - Quality control metrics</a:t>
            </a:r>
            <a:endParaRPr lang="en-US" sz="1300" dirty="0"/>
          </a:p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html_report.py - Bootstrap 5 reports</a:t>
            </a:r>
            <a:endParaRPr lang="en-US" sz="1300" dirty="0"/>
          </a:p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rnaseq_enhanced_pipeline.py - v2.0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Results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87326"/>
            <a:ext cx="1905149" cy="3902273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011138"/>
            <a:ext cx="1905149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6259" y="1225451"/>
            <a:ext cx="15546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Genes Analyzed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6259" y="1523851"/>
            <a:ext cx="155463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4,709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56259" y="2174677"/>
            <a:ext cx="1554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samples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40050" y="987326"/>
            <a:ext cx="1905149" cy="3902273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40050" y="1011138"/>
            <a:ext cx="1905149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5308" y="1225451"/>
            <a:ext cx="15546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DEGs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15308" y="1523851"/>
            <a:ext cx="155463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715308" y="2174677"/>
            <a:ext cx="1554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padj &lt; 0.05, |log2FC| &gt;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99099" y="987326"/>
            <a:ext cx="1905149" cy="3902273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99099" y="1011138"/>
            <a:ext cx="1905149" cy="0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4358" y="1225451"/>
            <a:ext cx="15546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Upregulated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4358" y="1523851"/>
            <a:ext cx="155463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874358" y="2174677"/>
            <a:ext cx="1554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 of DEGs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149" y="987326"/>
            <a:ext cx="1905149" cy="3902273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858149" y="1011138"/>
            <a:ext cx="1905149" cy="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33407" y="1225451"/>
            <a:ext cx="15546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Downregulated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33407" y="1523851"/>
            <a:ext cx="155463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033407" y="2174677"/>
            <a:ext cx="1554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 of DEGs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Hub Genes (Network Analysis)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755600"/>
            <a:ext cx="50909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 Hub Genes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031825"/>
            <a:ext cx="4991100" cy="492026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17450" y="1514326"/>
            <a:ext cx="4991100" cy="0"/>
          </a:xfrm>
          <a:prstGeom prst="line">
            <a:avLst/>
          </a:prstGeom>
          <a:noFill/>
          <a:ln w="19050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7450" y="1196876"/>
            <a:ext cx="14545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2827" y="1196876"/>
            <a:ext cx="10908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13000" y="1196876"/>
            <a:ext cx="25454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Disease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450" y="2001589"/>
            <a:ext cx="49911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450" y="1688902"/>
            <a:ext cx="14545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HIF1A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2827" y="1688902"/>
            <a:ext cx="10908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13000" y="1688902"/>
            <a:ext cx="25454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Cancers (hypoxia)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450" y="2484090"/>
            <a:ext cx="49911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450" y="2171402"/>
            <a:ext cx="14545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SPP1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2827" y="2171402"/>
            <a:ext cx="10908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13000" y="2171402"/>
            <a:ext cx="25454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Metastasis marker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7450" y="2966591"/>
            <a:ext cx="49911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450" y="2653903"/>
            <a:ext cx="14545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2827" y="2653903"/>
            <a:ext cx="10908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13000" y="2653903"/>
            <a:ext cx="25454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Burkitt Lymphoma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450" y="3449092"/>
            <a:ext cx="49911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7450" y="3136404"/>
            <a:ext cx="14545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2827" y="3136404"/>
            <a:ext cx="10908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13000" y="3136404"/>
            <a:ext cx="25454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Colorectal Cancer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7450" y="3931593"/>
            <a:ext cx="49911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7450" y="3618905"/>
            <a:ext cx="14545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CCNB1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32827" y="3618905"/>
            <a:ext cx="10908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13000" y="3618905"/>
            <a:ext cx="25454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Proliferation marker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7450" y="4414093"/>
            <a:ext cx="49911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7450" y="4101405"/>
            <a:ext cx="14545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2827" y="4101405"/>
            <a:ext cx="10908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13000" y="4101405"/>
            <a:ext cx="25454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Retinoblastoma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99050" y="755600"/>
            <a:ext cx="3327499" cy="470446"/>
          </a:xfrm>
          <a:prstGeom prst="roundRect">
            <a:avLst>
              <a:gd name="adj" fmla="val 107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518100" y="755600"/>
            <a:ext cx="0" cy="470446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38651" y="831800"/>
            <a:ext cx="31481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Therapeutic Targets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38651" y="1012775"/>
            <a:ext cx="314812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genes with known therapeutics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99050" y="1302246"/>
            <a:ext cx="3327499" cy="470446"/>
          </a:xfrm>
          <a:prstGeom prst="roundRect">
            <a:avLst>
              <a:gd name="adj" fmla="val 107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518100" y="1302246"/>
            <a:ext cx="0" cy="470446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38651" y="1378446"/>
            <a:ext cx="31481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Rate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38651" y="1559421"/>
            <a:ext cx="314812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 validated (Tier1 + Tier2)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99050" y="1848892"/>
            <a:ext cx="3327499" cy="470446"/>
          </a:xfrm>
          <a:prstGeom prst="roundRect">
            <a:avLst>
              <a:gd name="adj" fmla="val 107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518100" y="1848892"/>
            <a:ext cx="0" cy="470446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38651" y="1925092"/>
            <a:ext cx="31481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Enrichment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38651" y="2106067"/>
            <a:ext cx="314812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1,374 significant pathways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RAG Pipeline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23925"/>
            <a:ext cx="8382000" cy="1028700"/>
          </a:xfrm>
          <a:prstGeom prst="roundRect">
            <a:avLst>
              <a:gd name="adj" fmla="val 987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1127" y="1276350"/>
            <a:ext cx="10580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LOAD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1127" y="1466850"/>
            <a:ext cx="1058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AnnData + DESeq2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08832" y="1304925"/>
            <a:ext cx="362510" cy="266700"/>
          </a:xfrm>
          <a:prstGeom prst="rect">
            <a:avLst/>
          </a:prstGeom>
          <a:noFill/>
          <a:ln/>
        </p:spPr>
        <p:txBody>
          <a:bodyPr wrap="square" lIns="63500" tIns="0" rIns="6350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53860" y="1276350"/>
            <a:ext cx="10580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CHUNK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53860" y="1466850"/>
            <a:ext cx="1058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Gene-level split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01566" y="1304925"/>
            <a:ext cx="362510" cy="266700"/>
          </a:xfrm>
          <a:prstGeom prst="rect">
            <a:avLst/>
          </a:prstGeom>
          <a:noFill/>
          <a:ln/>
        </p:spPr>
        <p:txBody>
          <a:bodyPr wrap="square" lIns="63500" tIns="0" rIns="6350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46594" y="1276350"/>
            <a:ext cx="10580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EMBED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46594" y="1466850"/>
            <a:ext cx="1058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94299" y="1304925"/>
            <a:ext cx="362510" cy="266700"/>
          </a:xfrm>
          <a:prstGeom prst="rect">
            <a:avLst/>
          </a:prstGeom>
          <a:noFill/>
          <a:ln/>
        </p:spPr>
        <p:txBody>
          <a:bodyPr wrap="square" lIns="63500" tIns="0" rIns="6350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39327" y="1276350"/>
            <a:ext cx="10580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STORE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39327" y="1466850"/>
            <a:ext cx="1058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87033" y="1304925"/>
            <a:ext cx="362510" cy="266700"/>
          </a:xfrm>
          <a:prstGeom prst="rect">
            <a:avLst/>
          </a:prstGeom>
          <a:noFill/>
          <a:ln/>
        </p:spPr>
        <p:txBody>
          <a:bodyPr wrap="square" lIns="63500" tIns="0" rIns="6350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32061" y="1276350"/>
            <a:ext cx="10580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RETRIEVE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32061" y="1466850"/>
            <a:ext cx="1058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Search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9766" y="1304925"/>
            <a:ext cx="362510" cy="266700"/>
          </a:xfrm>
          <a:prstGeom prst="rect">
            <a:avLst/>
          </a:prstGeom>
          <a:noFill/>
          <a:ln/>
        </p:spPr>
        <p:txBody>
          <a:bodyPr wrap="square" lIns="63500" tIns="0" rIns="6350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24795" y="1276350"/>
            <a:ext cx="10580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GENERATE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24795" y="1466850"/>
            <a:ext cx="1058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Answer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1000" y="2143125"/>
            <a:ext cx="4145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1000" y="2479625"/>
            <a:ext cx="4064050" cy="542032"/>
          </a:xfrm>
          <a:prstGeom prst="roundRect">
            <a:avLst>
              <a:gd name="adj" fmla="val 1171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00050" y="2479625"/>
            <a:ext cx="0" cy="54203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050" y="2581126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 Embeddings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6050" y="2771626"/>
            <a:ext cx="38474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S-PubMedBert-MS-MARCO (768-dim vectors)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1000" y="3123158"/>
            <a:ext cx="4064050" cy="542032"/>
          </a:xfrm>
          <a:prstGeom prst="roundRect">
            <a:avLst>
              <a:gd name="adj" fmla="val 1171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00050" y="3123158"/>
            <a:ext cx="0" cy="54203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6050" y="3224659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Vector Store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6050" y="3415159"/>
            <a:ext cx="38474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Disease-domain collections with rich metadata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1000" y="3766691"/>
            <a:ext cx="4064050" cy="542032"/>
          </a:xfrm>
          <a:prstGeom prst="roundRect">
            <a:avLst>
              <a:gd name="adj" fmla="val 1171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00050" y="3766691"/>
            <a:ext cx="0" cy="54203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050" y="3868192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Status Cards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6050" y="4058692"/>
            <a:ext cx="38474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+ Disease associations + Therapeutics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98950" y="2143125"/>
            <a:ext cx="4145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Points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98950" y="2479625"/>
            <a:ext cx="4064050" cy="542032"/>
          </a:xfrm>
          <a:prstGeom prst="roundRect">
            <a:avLst>
              <a:gd name="adj" fmla="val 1171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718000" y="2479625"/>
            <a:ext cx="0" cy="54203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001" y="2581126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Knowledge Base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64001" y="2771626"/>
            <a:ext cx="38474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521 chunks from 5 papers indexed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98950" y="3123158"/>
            <a:ext cx="4064050" cy="542032"/>
          </a:xfrm>
          <a:prstGeom prst="roundRect">
            <a:avLst>
              <a:gd name="adj" fmla="val 1171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718000" y="3123158"/>
            <a:ext cx="0" cy="54203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001" y="3224659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Database Lookup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64001" y="3415159"/>
            <a:ext cx="38474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DisGeNET, COSMIC, OMIM queries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98950" y="3766691"/>
            <a:ext cx="4064050" cy="542032"/>
          </a:xfrm>
          <a:prstGeom prst="roundRect">
            <a:avLst>
              <a:gd name="adj" fmla="val 1171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718000" y="3766691"/>
            <a:ext cx="0" cy="542032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001" y="3868192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Validation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64001" y="4058692"/>
            <a:ext cx="38474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results validated with paper evidence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Database Implementation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87326"/>
            <a:ext cx="2582317" cy="3902273"/>
          </a:xfrm>
          <a:prstGeom prst="roundRect">
            <a:avLst>
              <a:gd name="adj" fmla="val 393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011138"/>
            <a:ext cx="2582317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225451"/>
            <a:ext cx="2245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disease_database.py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561951"/>
            <a:ext cx="224534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71500" y="2034927"/>
            <a:ext cx="2245343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cancer genes with therapeutics info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" y="2542580"/>
            <a:ext cx="2201317" cy="1218009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Oncogenes: EGFR, KRAS, BRAF, MYC...</a:t>
            </a:r>
            <a:endParaRPr lang="en-US" sz="1000" dirty="0"/>
          </a:p>
          <a:p>
            <a:pPr algn="l" marL="95250" indent="-9525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Suppressors: TP53, BRCA1, PTEN...</a:t>
            </a:r>
            <a:endParaRPr lang="en-US" sz="1000" dirty="0"/>
          </a:p>
          <a:p>
            <a:pPr algn="l" marL="95250" indent="-9525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Therapeutics mapping included</a:t>
            </a:r>
            <a:endParaRPr lang="en-US" sz="1000" dirty="0"/>
          </a:p>
          <a:p>
            <a:pPr algn="l" marL="95250" indent="-9525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associations linked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1500" y="3887539"/>
            <a:ext cx="937022" cy="393502"/>
          </a:xfrm>
          <a:prstGeom prst="roundRect">
            <a:avLst>
              <a:gd name="adj" fmla="val 968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3001" y="3925639"/>
            <a:ext cx="74870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80767" y="987326"/>
            <a:ext cx="2582317" cy="3902273"/>
          </a:xfrm>
          <a:prstGeom prst="roundRect">
            <a:avLst>
              <a:gd name="adj" fmla="val 393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80767" y="1011138"/>
            <a:ext cx="2582317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1267" y="1225451"/>
            <a:ext cx="2245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validation_enhanced.py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1267" y="1561951"/>
            <a:ext cx="224534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71267" y="2034927"/>
            <a:ext cx="2245343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Tier1/Tier2 classified cancer genes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1267" y="2352229"/>
            <a:ext cx="2201317" cy="142101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Tier1 Oncogenes: ~50 genes (CGC)</a:t>
            </a:r>
            <a:endParaRPr lang="en-US" sz="1000" dirty="0"/>
          </a:p>
          <a:p>
            <a:pPr algn="l" marL="95250" indent="-9525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Tier1 Tumor Suppressors: ~50 genes</a:t>
            </a:r>
            <a:endParaRPr lang="en-US" sz="1000" dirty="0"/>
          </a:p>
          <a:p>
            <a:pPr algn="l" marL="95250" indent="-9525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Tier2 Cancer-Associated: ~100 genes</a:t>
            </a:r>
            <a:endParaRPr lang="en-US" sz="1000" dirty="0"/>
          </a:p>
          <a:p>
            <a:pPr algn="l" marL="95250" indent="-9525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disease-specific signatures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1267" y="3900190"/>
            <a:ext cx="937022" cy="393502"/>
          </a:xfrm>
          <a:prstGeom prst="roundRect">
            <a:avLst>
              <a:gd name="adj" fmla="val 968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72768" y="3938290"/>
            <a:ext cx="74870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80534" y="987326"/>
            <a:ext cx="2582317" cy="3902273"/>
          </a:xfrm>
          <a:prstGeom prst="roundRect">
            <a:avLst>
              <a:gd name="adj" fmla="val 393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180534" y="1011138"/>
            <a:ext cx="2582317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1034" y="1225451"/>
            <a:ext cx="2245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71034" y="1561951"/>
            <a:ext cx="224534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71034" y="2034927"/>
            <a:ext cx="2245343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integrations (API key required)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71034" y="2542580"/>
            <a:ext cx="2201317" cy="812006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DisGeNET - Gene-disease associations</a:t>
            </a:r>
            <a:endParaRPr lang="en-US" sz="1000" dirty="0"/>
          </a:p>
          <a:p>
            <a:pPr algn="l" marL="95250" indent="-9525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 - Cancer mutations</a:t>
            </a:r>
            <a:endParaRPr lang="en-US" sz="1000" dirty="0"/>
          </a:p>
          <a:p>
            <a:pPr algn="l" marL="95250" indent="-9525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OncoKB - Precision oncology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71034" y="3481536"/>
            <a:ext cx="668982" cy="393502"/>
          </a:xfrm>
          <a:prstGeom prst="roundRect">
            <a:avLst>
              <a:gd name="adj" fmla="val 968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72535" y="3519636"/>
            <a:ext cx="47530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Pipeline Workflow (v2.0)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0350" y="92392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4787" y="1015901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5899" y="1355675"/>
            <a:ext cx="9844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5899" y="1536650"/>
            <a:ext cx="984453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detection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58801" y="1127075"/>
            <a:ext cx="207365" cy="339626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05000" y="92392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39436" y="1015901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90548" y="1355675"/>
            <a:ext cx="9844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90548" y="1536650"/>
            <a:ext cx="984453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expression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3450" y="1127075"/>
            <a:ext cx="207365" cy="339626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49650" y="92392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84086" y="1015901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5198" y="1355675"/>
            <a:ext cx="9844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5198" y="1536650"/>
            <a:ext cx="984453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gene DB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8100" y="1127075"/>
            <a:ext cx="207365" cy="339626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94299" y="92392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28736" y="1015901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79848" y="1355675"/>
            <a:ext cx="9844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79848" y="1536650"/>
            <a:ext cx="984453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genes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92750" y="1127075"/>
            <a:ext cx="207365" cy="339626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38949" y="92392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773385" y="1015901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24497" y="1355675"/>
            <a:ext cx="9844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24497" y="1536650"/>
            <a:ext cx="984453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GO/KEGG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37399" y="1127075"/>
            <a:ext cx="207365" cy="339626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83598" y="92392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18035" y="1015901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69147" y="1355675"/>
            <a:ext cx="9844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69147" y="1536650"/>
            <a:ext cx="984453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 quality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582049" y="1127075"/>
            <a:ext cx="207365" cy="339626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28248" y="92392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262684" y="1015901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13797" y="1355675"/>
            <a:ext cx="9844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13797" y="1536650"/>
            <a:ext cx="984453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HTML/CSV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17450" y="1860352"/>
            <a:ext cx="8509099" cy="1342876"/>
          </a:xfrm>
          <a:prstGeom prst="roundRect">
            <a:avLst>
              <a:gd name="adj" fmla="val 756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07950" y="2012752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Files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7950" y="2339727"/>
            <a:ext cx="1295846" cy="30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44426" y="2425452"/>
            <a:ext cx="10433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analysis_report.html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905298" y="2339727"/>
            <a:ext cx="1423095" cy="30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041773" y="2425452"/>
            <a:ext cx="11731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deseq2_significant.csv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29893" y="2339727"/>
            <a:ext cx="1041946" cy="30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566368" y="2425452"/>
            <a:ext cx="78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hub_genes.csv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3339" y="2339727"/>
            <a:ext cx="1530995" cy="30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709815" y="2425452"/>
            <a:ext cx="12832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pathway_enrichment.csv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05835" y="2339727"/>
            <a:ext cx="1111746" cy="30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342311" y="2425452"/>
            <a:ext cx="8555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gene_cards.json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19082" y="2339727"/>
            <a:ext cx="1137345" cy="30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555557" y="2425452"/>
            <a:ext cx="881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volcano_plot.png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7950" y="2746028"/>
            <a:ext cx="940296" cy="30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44426" y="2831753"/>
            <a:ext cx="6806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heatmap.png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549747" y="2746028"/>
            <a:ext cx="1143595" cy="30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686223" y="2831753"/>
            <a:ext cx="8880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network_plot.png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794843" y="2746028"/>
            <a:ext cx="927646" cy="30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931319" y="2831753"/>
            <a:ext cx="6677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pca_plot.png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823990" y="2746028"/>
            <a:ext cx="1035695" cy="30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960465" y="2831753"/>
            <a:ext cx="777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dashboard.png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87326"/>
            <a:ext cx="41129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415951"/>
            <a:ext cx="4032349" cy="863203"/>
          </a:xfrm>
          <a:prstGeom prst="roundRect">
            <a:avLst>
              <a:gd name="adj" fmla="val 73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415951"/>
            <a:ext cx="0" cy="863203"/>
          </a:xfrm>
          <a:prstGeom prst="line">
            <a:avLst/>
          </a:prstGeom>
          <a:noFill/>
          <a:ln w="3810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50" y="1542901"/>
            <a:ext cx="3815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HTML Report Display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50" y="1752451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CSS loading issue in local environment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6050" y="1958727"/>
            <a:ext cx="413593" cy="193477"/>
          </a:xfrm>
          <a:prstGeom prst="roundRect">
            <a:avLst>
              <a:gd name="adj" fmla="val 19692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2250" y="1984028"/>
            <a:ext cx="2664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1000" y="2406104"/>
            <a:ext cx="4032349" cy="863203"/>
          </a:xfrm>
          <a:prstGeom prst="roundRect">
            <a:avLst>
              <a:gd name="adj" fmla="val 73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406104"/>
            <a:ext cx="0" cy="863203"/>
          </a:xfrm>
          <a:prstGeom prst="line">
            <a:avLst/>
          </a:prstGeom>
          <a:noFill/>
          <a:ln w="38100">
            <a:solidFill>
              <a:srgbClr val="FE4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050" y="2533055"/>
            <a:ext cx="3815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GEO Dataset Testing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6050" y="2742605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GSE19804 lung cancer RNA-seq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6050" y="2948880"/>
            <a:ext cx="413593" cy="193477"/>
          </a:xfrm>
          <a:prstGeom prst="roundRect">
            <a:avLst>
              <a:gd name="adj" fmla="val 19692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2250" y="2974181"/>
            <a:ext cx="2664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1000" y="3396258"/>
            <a:ext cx="4032349" cy="863203"/>
          </a:xfrm>
          <a:prstGeom prst="roundRect">
            <a:avLst>
              <a:gd name="adj" fmla="val 73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3396258"/>
            <a:ext cx="0" cy="863203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050" y="3523208"/>
            <a:ext cx="3815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ID Mapping Enhancement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6050" y="3732758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GPL annotation parsing coverage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6050" y="3939034"/>
            <a:ext cx="604093" cy="193477"/>
          </a:xfrm>
          <a:prstGeom prst="roundRect">
            <a:avLst>
              <a:gd name="adj" fmla="val 1969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2250" y="3964335"/>
            <a:ext cx="4607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30800" y="987326"/>
            <a:ext cx="41129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Sprint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30800" y="1415951"/>
            <a:ext cx="4032349" cy="863203"/>
          </a:xfrm>
          <a:prstGeom prst="roundRect">
            <a:avLst>
              <a:gd name="adj" fmla="val 73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49850" y="1415951"/>
            <a:ext cx="0" cy="863203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5850" y="1542901"/>
            <a:ext cx="3815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DisGeNET API Integration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5850" y="1752451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external gene-disease database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5850" y="1958727"/>
            <a:ext cx="604093" cy="193477"/>
          </a:xfrm>
          <a:prstGeom prst="roundRect">
            <a:avLst>
              <a:gd name="adj" fmla="val 1969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72050" y="1984028"/>
            <a:ext cx="4607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30800" y="2406104"/>
            <a:ext cx="4032349" cy="863203"/>
          </a:xfrm>
          <a:prstGeom prst="roundRect">
            <a:avLst>
              <a:gd name="adj" fmla="val 73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749850" y="2406104"/>
            <a:ext cx="0" cy="863203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5850" y="2533055"/>
            <a:ext cx="3815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COSMIC/OncoKB Integration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5850" y="2742605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mutation and precision oncology data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5850" y="2948880"/>
            <a:ext cx="604093" cy="193477"/>
          </a:xfrm>
          <a:prstGeom prst="roundRect">
            <a:avLst>
              <a:gd name="adj" fmla="val 1969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72050" y="2974181"/>
            <a:ext cx="4607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30800" y="3396258"/>
            <a:ext cx="4032349" cy="863203"/>
          </a:xfrm>
          <a:prstGeom prst="roundRect">
            <a:avLst>
              <a:gd name="adj" fmla="val 73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749850" y="3396258"/>
            <a:ext cx="0" cy="863203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5850" y="3523208"/>
            <a:ext cx="3815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 Connection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5850" y="3732758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DEG results with paper knowledge base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5850" y="3939034"/>
            <a:ext cx="385465" cy="193477"/>
          </a:xfrm>
          <a:prstGeom prst="roundRect">
            <a:avLst>
              <a:gd name="adj" fmla="val 1969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972050" y="3964335"/>
            <a:ext cx="2377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1730" y="559147"/>
            <a:ext cx="63205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473696" y="1279773"/>
            <a:ext cx="6196608" cy="1713905"/>
          </a:xfrm>
          <a:prstGeom prst="roundRect">
            <a:avLst>
              <a:gd name="adj" fmla="val 592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29839" y="1635175"/>
            <a:ext cx="52843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RNA-seq Pipeline v2.0 Completed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929839" y="2003375"/>
            <a:ext cx="52843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DEGs identified | 86% Validation Rate | 31 Therapeutic Targets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29839" y="2371576"/>
            <a:ext cx="52843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New Modules Added | 4,270 Lines of 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1730" y="3374678"/>
            <a:ext cx="6320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 - Computational Biology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1730" y="3927128"/>
            <a:ext cx="63205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- RAG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23925"/>
            <a:ext cx="8382000" cy="972145"/>
          </a:xfrm>
          <a:prstGeom prst="roundRect">
            <a:avLst>
              <a:gd name="adj" fmla="val 783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923925"/>
            <a:ext cx="0" cy="972145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125" y="1076325"/>
            <a:ext cx="8112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RAG와 일반 검색의 차이점은?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9125" y="1352550"/>
            <a:ext cx="811244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키워드 검색은 정확한 단어 매칭만 가능. RAG는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의미적 유사도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기반 검색으로 "EGFR mutation" 검색 시 "epidermal growth factor receptor alteration"도 검색됨. LLM이 검색 결과를 종합하여 자연어 답변 생성.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2048470"/>
            <a:ext cx="8382000" cy="972145"/>
          </a:xfrm>
          <a:prstGeom prst="roundRect">
            <a:avLst>
              <a:gd name="adj" fmla="val 783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2048470"/>
            <a:ext cx="0" cy="972145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125" y="2200870"/>
            <a:ext cx="8112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PubMedBERT를 선택한 이유는?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9125" y="2477095"/>
            <a:ext cx="811244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BERT는 Wikipedia, 뉴스 등 일반 텍스트로 학습.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PubMedBERT는 PubMed 논문 전문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학습되어 바이오메디컬 용어 이해도가 높음. 바이오메디컬 벤치마크에서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10-15% 더 높은 정확도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1000" y="3173016"/>
            <a:ext cx="8382000" cy="972145"/>
          </a:xfrm>
          <a:prstGeom prst="roundRect">
            <a:avLst>
              <a:gd name="adj" fmla="val 783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4813" y="3173016"/>
            <a:ext cx="0" cy="972145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125" y="3325416"/>
            <a:ext cx="8112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ChromaDB를 선택한 이유는?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125" y="3601641"/>
            <a:ext cx="811244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가지 이유: (1)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API가 간단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(2) 로컬에서 영구 저장 가능 (3) LangChain과 통합 용이. 대규모 프로덕션에서는 Pinecone, Weaviate 고려 가능.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RNA-seq Cancer Analysis Pipeline - Weekly Report</dc:title>
  <dc:subject>Weekly Progress Report</dc:subject>
  <dc:creator>BioInsight AI</dc:creator>
  <cp:lastModifiedBy>BioInsight AI</cp:lastModifiedBy>
  <cp:revision>1</cp:revision>
  <dcterms:created xsi:type="dcterms:W3CDTF">2026-01-05T15:21:20Z</dcterms:created>
  <dcterms:modified xsi:type="dcterms:W3CDTF">2026-01-05T15:21:20Z</dcterms:modified>
</cp:coreProperties>
</file>